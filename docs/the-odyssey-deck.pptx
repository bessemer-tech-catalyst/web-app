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URL in, a working test suite and an honest report out. The sub-agents are table stakes; the orchestrator is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itself says the gap is orchestration, not the sub-agents.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can wire three agents in a row. The judgment between them is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 Plan, Critique, Generate, Execute, Triage, Heal, Report. The starred stages are the judgments. Every transition is appended to one event log, which is the database, the crash recovery story, the replay mechanism and the live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is mechanical. The assertion guard has already caught a patch whose own summary claimed no assertions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run_8b37144b did exactly this with no human in between, and had a third patch rejected by the assertion guard.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Arithmetic anyone can recompute, calibrated by a unit test against the product's own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is a real cost, and each is stated in the README rather than implied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Costs are measured from real runs in this repo, not estimated. The authoring comparison is an estimate and is stated as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phase in this repo was marked done once before it had ever run, and running it found defects each time. So the labels are earned, not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A0E"/>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90A0E"/>
          </a:solidFill>
          <a:ln/>
        </p:spPr>
      </p:sp>
      <p:sp>
        <p:nvSpPr>
          <p:cNvPr id="3" name="Shape 1"/>
          <p:cNvSpPr/>
          <p:nvPr/>
        </p:nvSpPr>
        <p:spPr>
          <a:xfrm>
            <a:off x="7680960" y="-2377440"/>
            <a:ext cx="7498080" cy="7498080"/>
          </a:xfrm>
          <a:prstGeom prst="ellipse">
            <a:avLst/>
          </a:prstGeom>
          <a:solidFill>
            <a:srgbClr val="F06504">
              <a:alpha val="12000"/>
            </a:srgbClr>
          </a:solidFill>
          <a:ln w="12700">
            <a:solidFill>
              <a:srgbClr val="F06504">
                <a:alpha val="8000"/>
              </a:srgbClr>
            </a:solidFill>
            <a:prstDash val="solid"/>
          </a:ln>
        </p:spPr>
      </p:sp>
      <p:sp>
        <p:nvSpPr>
          <p:cNvPr id="4" name="Text 2"/>
          <p:cNvSpPr txBox="1"/>
          <p:nvPr/>
        </p:nvSpPr>
        <p:spPr>
          <a:xfrm>
            <a:off x="640080" y="1371600"/>
            <a:ext cx="8229600" cy="274320"/>
          </a:xfrm>
          <a:prstGeom prst="rect">
            <a:avLst/>
          </a:prstGeom>
          <a:noFill/>
          <a:ln/>
        </p:spPr>
        <p:txBody>
          <a:bodyPr wrap="square" lIns="0" tIns="0" rIns="0" bIns="0" rtlCol="0" anchor="ctr"/>
          <a:lstStyle/>
          <a:p>
            <a:pPr indent="0" marL="0">
              <a:buNone/>
            </a:pPr>
            <a:r>
              <a:rPr lang="en-US" sz="1200" b="1" spc="200" kern="0" dirty="0">
                <a:solidFill>
                  <a:srgbClr val="F06504"/>
                </a:solidFill>
                <a:latin typeface="Calibri" pitchFamily="34" charset="0"/>
                <a:ea typeface="Calibri" pitchFamily="34" charset="-122"/>
                <a:cs typeface="Calibri" pitchFamily="34" charset="-120"/>
              </a:rPr>
              <a:t>BESSEMER TECH CATALYST  ·  AI / ML TRACK</a:t>
            </a:r>
            <a:endParaRPr lang="en-US" sz="1200" dirty="0"/>
          </a:p>
        </p:txBody>
      </p:sp>
      <p:sp>
        <p:nvSpPr>
          <p:cNvPr id="5" name="Text 3"/>
          <p:cNvSpPr txBox="1"/>
          <p:nvPr/>
        </p:nvSpPr>
        <p:spPr>
          <a:xfrm>
            <a:off x="640080" y="1828800"/>
            <a:ext cx="9144000" cy="1188720"/>
          </a:xfrm>
          <a:prstGeom prst="rect">
            <a:avLst/>
          </a:prstGeom>
          <a:noFill/>
          <a:ln/>
        </p:spPr>
        <p:txBody>
          <a:bodyPr wrap="square" lIns="0" tIns="0" rIns="0" bIns="0" rtlCol="0" anchor="ctr"/>
          <a:lstStyle/>
          <a:p>
            <a:pPr indent="0" marL="0">
              <a:buNone/>
            </a:pPr>
            <a:r>
              <a:rPr lang="en-US" sz="6600" b="1" dirty="0">
                <a:solidFill>
                  <a:srgbClr val="EBEDF0"/>
                </a:solidFill>
                <a:latin typeface="Cambria" pitchFamily="34" charset="0"/>
                <a:ea typeface="Cambria" pitchFamily="34" charset="-122"/>
                <a:cs typeface="Cambria" pitchFamily="34" charset="-120"/>
              </a:rPr>
              <a:t>The Odyssey</a:t>
            </a:r>
            <a:endParaRPr lang="en-US" sz="6600" dirty="0"/>
          </a:p>
        </p:txBody>
      </p:sp>
      <p:sp>
        <p:nvSpPr>
          <p:cNvPr id="6" name="Text 4"/>
          <p:cNvSpPr txBox="1"/>
          <p:nvPr/>
        </p:nvSpPr>
        <p:spPr>
          <a:xfrm>
            <a:off x="640080" y="3017520"/>
            <a:ext cx="9601200" cy="457200"/>
          </a:xfrm>
          <a:prstGeom prst="rect">
            <a:avLst/>
          </a:prstGeom>
          <a:noFill/>
          <a:ln/>
        </p:spPr>
        <p:txBody>
          <a:bodyPr wrap="square" lIns="0" tIns="0" rIns="0" bIns="0" rtlCol="0" anchor="ctr"/>
          <a:lstStyle/>
          <a:p>
            <a:pPr indent="0" marL="0">
              <a:buNone/>
            </a:pPr>
            <a:r>
              <a:rPr lang="en-US" sz="2500" i="1" dirty="0">
                <a:solidFill>
                  <a:srgbClr val="FD8F37"/>
                </a:solidFill>
                <a:latin typeface="Cambria" pitchFamily="34" charset="0"/>
                <a:ea typeface="Cambria" pitchFamily="34" charset="-122"/>
                <a:cs typeface="Cambria" pitchFamily="34" charset="-120"/>
              </a:rPr>
              <a:t>An autonomous test orchestration agent.</a:t>
            </a:r>
            <a:endParaRPr lang="en-US" sz="2500" dirty="0"/>
          </a:p>
        </p:txBody>
      </p:sp>
      <p:sp>
        <p:nvSpPr>
          <p:cNvPr id="7" name="Text 5"/>
          <p:cNvSpPr txBox="1"/>
          <p:nvPr/>
        </p:nvSpPr>
        <p:spPr>
          <a:xfrm>
            <a:off x="640080" y="3749040"/>
            <a:ext cx="8138160" cy="1371600"/>
          </a:xfrm>
          <a:prstGeom prst="rect">
            <a:avLst/>
          </a:prstGeom>
          <a:noFill/>
          <a:ln/>
        </p:spPr>
        <p:txBody>
          <a:bodyPr wrap="square" lIns="0" tIns="0" rIns="0" bIns="0" rtlCol="0" anchor="t"/>
          <a:lstStyle/>
          <a:p>
            <a:pPr indent="0" marL="0">
              <a:lnSpc>
                <a:spcPct val="115000"/>
              </a:lnSpc>
              <a:buNone/>
            </a:pPr>
            <a:r>
              <a:rPr lang="en-US" sz="1500" dirty="0">
                <a:solidFill>
                  <a:srgbClr val="B2B6BE"/>
                </a:solidFill>
                <a:latin typeface="Calibri" pitchFamily="34" charset="0"/>
                <a:ea typeface="Calibri" pitchFamily="34" charset="-122"/>
                <a:cs typeface="Calibri" pitchFamily="34" charset="-120"/>
              </a:rPr>
              <a:t>Give it a URL. It explores the application, writes a test plan, grades its own plan, generates real Playwright tests whose every selector it proved on the live page, runs them, works out whether each failure is a broken test or a broken app, repairs the broken tests, refuses to repair the broken app, and reports what it did not test — and what that is worth.</a:t>
            </a:r>
            <a:endParaRPr lang="en-US" sz="1500" dirty="0"/>
          </a:p>
        </p:txBody>
      </p:sp>
      <p:sp>
        <p:nvSpPr>
          <p:cNvPr id="8" name="Text 6"/>
          <p:cNvSpPr txBox="1"/>
          <p:nvPr/>
        </p:nvSpPr>
        <p:spPr>
          <a:xfrm>
            <a:off x="640080" y="5074920"/>
            <a:ext cx="8229600" cy="365760"/>
          </a:xfrm>
          <a:prstGeom prst="rect">
            <a:avLst/>
          </a:prstGeom>
          <a:noFill/>
          <a:ln/>
        </p:spPr>
        <p:txBody>
          <a:bodyPr wrap="square" lIns="0" tIns="0" rIns="0" bIns="0" rtlCol="0" anchor="ctr"/>
          <a:lstStyle/>
          <a:p>
            <a:pPr indent="0" marL="0">
              <a:buNone/>
            </a:pPr>
            <a:r>
              <a:rPr lang="en-US" sz="1700" b="1" dirty="0">
                <a:solidFill>
                  <a:srgbClr val="EBEDF0"/>
                </a:solidFill>
                <a:latin typeface="Calibri" pitchFamily="34" charset="0"/>
                <a:ea typeface="Calibri" pitchFamily="34" charset="-122"/>
                <a:cs typeface="Calibri" pitchFamily="34" charset="-120"/>
              </a:rPr>
              <a:t>No human between any two of those stages.</a:t>
            </a:r>
            <a:endParaRPr lang="en-US" sz="1700" dirty="0"/>
          </a:p>
        </p:txBody>
      </p:sp>
      <p:sp>
        <p:nvSpPr>
          <p:cNvPr id="9" name="Text 7"/>
          <p:cNvSpPr txBox="1"/>
          <p:nvPr/>
        </p:nvSpPr>
        <p:spPr>
          <a:xfrm>
            <a:off x="640080" y="6035040"/>
            <a:ext cx="10058400" cy="274320"/>
          </a:xfrm>
          <a:prstGeom prst="rect">
            <a:avLst/>
          </a:prstGeom>
          <a:noFill/>
          <a:ln/>
        </p:spPr>
        <p:txBody>
          <a:bodyPr wrap="square" lIns="0" tIns="0" rIns="0" bIns="0" rtlCol="0" anchor="ctr"/>
          <a:lstStyle/>
          <a:p>
            <a:pPr indent="0" marL="0">
              <a:buNone/>
            </a:pPr>
            <a:r>
              <a:rPr lang="en-US" sz="1100" dirty="0">
                <a:solidFill>
                  <a:srgbClr val="8F949D"/>
                </a:solidFill>
                <a:latin typeface="Calibri" pitchFamily="34" charset="0"/>
                <a:ea typeface="Calibri" pitchFamily="34" charset="-122"/>
                <a:cs typeface="Calibri" pitchFamily="34" charset="-120"/>
              </a:rPr>
              <a:t>Autonomous Test Orchestration Agent  ·  Problem statement by Aivar Innovations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A0E"/>
        </a:solidFill>
      </p:bgPr>
    </p:bg>
    <p:spTree>
      <p:nvGrpSpPr>
        <p:cNvPr id="1" name=""/>
        <p:cNvGrpSpPr/>
        <p:nvPr/>
      </p:nvGrpSpPr>
      <p:grpSpPr>
        <a:xfrm>
          <a:off x="0" y="0"/>
          <a:ext cx="0" cy="0"/>
          <a:chOff x="0" y="0"/>
          <a:chExt cx="0" cy="0"/>
        </a:xfrm>
      </p:grpSpPr>
      <p:sp>
        <p:nvSpPr>
          <p:cNvPr id="2" name="Text 0"/>
          <p:cNvSpPr txBox="1"/>
          <p:nvPr/>
        </p:nvSpPr>
        <p:spPr>
          <a:xfrm>
            <a:off x="640080" y="274320"/>
            <a:ext cx="10881360" cy="228600"/>
          </a:xfrm>
          <a:prstGeom prst="rect">
            <a:avLst/>
          </a:prstGeom>
          <a:noFill/>
          <a:ln/>
        </p:spPr>
        <p:txBody>
          <a:bodyPr wrap="square" lIns="0" tIns="0" rIns="0" bIns="0" rtlCol="0" anchor="ctr"/>
          <a:lstStyle/>
          <a:p>
            <a:pPr indent="0" marL="0">
              <a:buNone/>
            </a:pPr>
            <a:r>
              <a:rPr lang="en-US" sz="1100" b="1" spc="200" kern="0" dirty="0">
                <a:solidFill>
                  <a:srgbClr val="F06504"/>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640080" y="502920"/>
            <a:ext cx="10881360" cy="868680"/>
          </a:xfrm>
          <a:prstGeom prst="rect">
            <a:avLst/>
          </a:prstGeom>
          <a:noFill/>
          <a:ln/>
        </p:spPr>
        <p:txBody>
          <a:bodyPr wrap="square" lIns="0" tIns="0" rIns="0" bIns="0" rtlCol="0" anchor="ctr"/>
          <a:lstStyle/>
          <a:p>
            <a:pPr algn="l" indent="0" marL="0">
              <a:buNone/>
            </a:pPr>
            <a:r>
              <a:rPr lang="en-US" sz="3400" b="1" dirty="0">
                <a:solidFill>
                  <a:srgbClr val="EBEDF0"/>
                </a:solidFill>
                <a:latin typeface="Cambria" pitchFamily="34" charset="0"/>
                <a:ea typeface="Cambria" pitchFamily="34" charset="-122"/>
                <a:cs typeface="Cambria" pitchFamily="34" charset="-120"/>
              </a:rPr>
              <a:t>Testing's cost is not execution. It is decision-making.</a:t>
            </a:r>
            <a:endParaRPr lang="en-US" sz="3400" dirty="0"/>
          </a:p>
        </p:txBody>
      </p:sp>
      <p:sp>
        <p:nvSpPr>
          <p:cNvPr id="4" name="Text 2"/>
          <p:cNvSpPr txBox="1"/>
          <p:nvPr/>
        </p:nvSpPr>
        <p:spPr>
          <a:xfrm>
            <a:off x="640080" y="1371600"/>
            <a:ext cx="6766560" cy="1371600"/>
          </a:xfrm>
          <a:prstGeom prst="rect">
            <a:avLst/>
          </a:prstGeom>
          <a:noFill/>
          <a:ln/>
        </p:spPr>
        <p:txBody>
          <a:bodyPr wrap="square" lIns="0" tIns="0" rIns="0" bIns="0" rtlCol="0" anchor="t"/>
          <a:lstStyle/>
          <a:p>
            <a:pPr indent="0" marL="0">
              <a:lnSpc>
                <a:spcPct val="115000"/>
              </a:lnSpc>
              <a:buNone/>
            </a:pPr>
            <a:r>
              <a:rPr lang="en-US" sz="1500" dirty="0">
                <a:solidFill>
                  <a:srgbClr val="B2B6BE"/>
                </a:solidFill>
                <a:latin typeface="Calibri" pitchFamily="34" charset="0"/>
                <a:ea typeface="Calibri" pitchFamily="34" charset="-122"/>
                <a:cs typeface="Calibri" pitchFamily="34" charset="-120"/>
              </a:rPr>
              <a:t>Figuring out what to test. Judging whether the right things were tested. Knowing whether a red test means a broken application or a broken script. Those three judgments are what a team pays a QA engineer for, and they are the three an AI testing tool hands straight back.</a:t>
            </a:r>
            <a:endParaRPr lang="en-US" sz="1500" dirty="0"/>
          </a:p>
        </p:txBody>
      </p:sp>
      <p:sp>
        <p:nvSpPr>
          <p:cNvPr id="5" name="Shape 3"/>
          <p:cNvSpPr/>
          <p:nvPr/>
        </p:nvSpPr>
        <p:spPr>
          <a:xfrm>
            <a:off x="640080" y="2971800"/>
            <a:ext cx="6766560" cy="1051560"/>
          </a:xfrm>
          <a:prstGeom prst="roundRect">
            <a:avLst>
              <a:gd name="adj" fmla="val 6957"/>
            </a:avLst>
          </a:prstGeom>
          <a:solidFill>
            <a:srgbClr val="16181D"/>
          </a:solidFill>
          <a:ln w="12700">
            <a:solidFill>
              <a:srgbClr val="2F3239"/>
            </a:solidFill>
            <a:prstDash val="solid"/>
          </a:ln>
        </p:spPr>
      </p:sp>
      <p:sp>
        <p:nvSpPr>
          <p:cNvPr id="6" name="Shape 4"/>
          <p:cNvSpPr/>
          <p:nvPr/>
        </p:nvSpPr>
        <p:spPr>
          <a:xfrm>
            <a:off x="914400" y="3319272"/>
            <a:ext cx="365760" cy="365760"/>
          </a:xfrm>
          <a:prstGeom prst="ellipse">
            <a:avLst/>
          </a:prstGeom>
          <a:solidFill>
            <a:srgbClr val="F06504"/>
          </a:solidFill>
          <a:ln w="12700">
            <a:solidFill>
              <a:srgbClr val="F06504"/>
            </a:solidFill>
            <a:prstDash val="solid"/>
          </a:ln>
        </p:spPr>
      </p:sp>
      <p:sp>
        <p:nvSpPr>
          <p:cNvPr id="7" name="Text 5"/>
          <p:cNvSpPr txBox="1"/>
          <p:nvPr/>
        </p:nvSpPr>
        <p:spPr>
          <a:xfrm>
            <a:off x="914400" y="3319272"/>
            <a:ext cx="365760" cy="365760"/>
          </a:xfrm>
          <a:prstGeom prst="rect">
            <a:avLst/>
          </a:prstGeom>
          <a:noFill/>
          <a:ln/>
        </p:spPr>
        <p:txBody>
          <a:bodyPr wrap="square" lIns="0" tIns="0" rIns="0" bIns="0" rtlCol="0" anchor="ctr"/>
          <a:lstStyle/>
          <a:p>
            <a:pPr algn="ctr" indent="0" marL="0">
              <a:buNone/>
            </a:pPr>
            <a:r>
              <a:rPr lang="en-US" sz="1300" b="1" dirty="0">
                <a:solidFill>
                  <a:srgbClr val="090A0E"/>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81328" y="3154680"/>
            <a:ext cx="5669280" cy="292608"/>
          </a:xfrm>
          <a:prstGeom prst="rect">
            <a:avLst/>
          </a:prstGeom>
          <a:noFill/>
          <a:ln/>
        </p:spPr>
        <p:txBody>
          <a:bodyPr wrap="square" lIns="0" tIns="0" rIns="0" bIns="0" rtlCol="0" anchor="ctr"/>
          <a:lstStyle/>
          <a:p>
            <a:pPr indent="0" marL="0">
              <a:buNone/>
            </a:pPr>
            <a:r>
              <a:rPr lang="en-US" sz="1500" b="1" dirty="0">
                <a:solidFill>
                  <a:srgbClr val="EBEDF0"/>
                </a:solidFill>
                <a:latin typeface="Calibri" pitchFamily="34" charset="0"/>
                <a:ea typeface="Calibri" pitchFamily="34" charset="-122"/>
                <a:cs typeface="Calibri" pitchFamily="34" charset="-120"/>
              </a:rPr>
              <a:t>What to test</a:t>
            </a:r>
            <a:endParaRPr lang="en-US" sz="1500" dirty="0"/>
          </a:p>
        </p:txBody>
      </p:sp>
      <p:sp>
        <p:nvSpPr>
          <p:cNvPr id="9" name="Text 7"/>
          <p:cNvSpPr txBox="1"/>
          <p:nvPr/>
        </p:nvSpPr>
        <p:spPr>
          <a:xfrm>
            <a:off x="1481328" y="3483864"/>
            <a:ext cx="5669280" cy="457200"/>
          </a:xfrm>
          <a:prstGeom prst="rect">
            <a:avLst/>
          </a:prstGeom>
          <a:noFill/>
          <a:ln/>
        </p:spPr>
        <p:txBody>
          <a:bodyPr wrap="square" lIns="0" tIns="0" rIns="0" bIns="0" rtlCol="0" anchor="t"/>
          <a:lstStyle/>
          <a:p>
            <a:pPr indent="0" marL="0">
              <a:lnSpc>
                <a:spcPct val="115000"/>
              </a:lnSpc>
              <a:buNone/>
            </a:pPr>
            <a:r>
              <a:rPr lang="en-US" sz="1250" dirty="0">
                <a:solidFill>
                  <a:srgbClr val="8F949D"/>
                </a:solidFill>
                <a:latin typeface="Calibri" pitchFamily="34" charset="0"/>
                <a:ea typeface="Calibri" pitchFamily="34" charset="-122"/>
                <a:cs typeface="Calibri" pitchFamily="34" charset="-120"/>
              </a:rPr>
              <a:t>Coverage is decided by whoever has time, and nobody measures what was left out.</a:t>
            </a:r>
            <a:endParaRPr lang="en-US" sz="1250" dirty="0"/>
          </a:p>
        </p:txBody>
      </p:sp>
      <p:sp>
        <p:nvSpPr>
          <p:cNvPr id="10" name="Shape 8"/>
          <p:cNvSpPr/>
          <p:nvPr/>
        </p:nvSpPr>
        <p:spPr>
          <a:xfrm>
            <a:off x="640080" y="4178808"/>
            <a:ext cx="6766560" cy="1051560"/>
          </a:xfrm>
          <a:prstGeom prst="roundRect">
            <a:avLst>
              <a:gd name="adj" fmla="val 6957"/>
            </a:avLst>
          </a:prstGeom>
          <a:solidFill>
            <a:srgbClr val="16181D"/>
          </a:solidFill>
          <a:ln w="12700">
            <a:solidFill>
              <a:srgbClr val="2F3239"/>
            </a:solidFill>
            <a:prstDash val="solid"/>
          </a:ln>
        </p:spPr>
      </p:sp>
      <p:sp>
        <p:nvSpPr>
          <p:cNvPr id="11" name="Shape 9"/>
          <p:cNvSpPr/>
          <p:nvPr/>
        </p:nvSpPr>
        <p:spPr>
          <a:xfrm>
            <a:off x="914400" y="4526280"/>
            <a:ext cx="365760" cy="365760"/>
          </a:xfrm>
          <a:prstGeom prst="ellipse">
            <a:avLst/>
          </a:prstGeom>
          <a:solidFill>
            <a:srgbClr val="A376E9"/>
          </a:solidFill>
          <a:ln w="12700">
            <a:solidFill>
              <a:srgbClr val="A376E9"/>
            </a:solidFill>
            <a:prstDash val="solid"/>
          </a:ln>
        </p:spPr>
      </p:sp>
      <p:sp>
        <p:nvSpPr>
          <p:cNvPr id="12" name="Text 10"/>
          <p:cNvSpPr txBox="1"/>
          <p:nvPr/>
        </p:nvSpPr>
        <p:spPr>
          <a:xfrm>
            <a:off x="914400" y="4526280"/>
            <a:ext cx="365760" cy="365760"/>
          </a:xfrm>
          <a:prstGeom prst="rect">
            <a:avLst/>
          </a:prstGeom>
          <a:noFill/>
          <a:ln/>
        </p:spPr>
        <p:txBody>
          <a:bodyPr wrap="square" lIns="0" tIns="0" rIns="0" bIns="0" rtlCol="0" anchor="ctr"/>
          <a:lstStyle/>
          <a:p>
            <a:pPr algn="ctr" indent="0" marL="0">
              <a:buNone/>
            </a:pPr>
            <a:r>
              <a:rPr lang="en-US" sz="1300" b="1" dirty="0">
                <a:solidFill>
                  <a:srgbClr val="090A0E"/>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481328" y="4361688"/>
            <a:ext cx="5669280" cy="292608"/>
          </a:xfrm>
          <a:prstGeom prst="rect">
            <a:avLst/>
          </a:prstGeom>
          <a:noFill/>
          <a:ln/>
        </p:spPr>
        <p:txBody>
          <a:bodyPr wrap="square" lIns="0" tIns="0" rIns="0" bIns="0" rtlCol="0" anchor="ctr"/>
          <a:lstStyle/>
          <a:p>
            <a:pPr indent="0" marL="0">
              <a:buNone/>
            </a:pPr>
            <a:r>
              <a:rPr lang="en-US" sz="1500" b="1" dirty="0">
                <a:solidFill>
                  <a:srgbClr val="EBEDF0"/>
                </a:solidFill>
                <a:latin typeface="Calibri" pitchFamily="34" charset="0"/>
                <a:ea typeface="Calibri" pitchFamily="34" charset="-122"/>
                <a:cs typeface="Calibri" pitchFamily="34" charset="-120"/>
              </a:rPr>
              <a:t>Was it enough?</a:t>
            </a:r>
            <a:endParaRPr lang="en-US" sz="1500" dirty="0"/>
          </a:p>
        </p:txBody>
      </p:sp>
      <p:sp>
        <p:nvSpPr>
          <p:cNvPr id="14" name="Text 12"/>
          <p:cNvSpPr txBox="1"/>
          <p:nvPr/>
        </p:nvSpPr>
        <p:spPr>
          <a:xfrm>
            <a:off x="1481328" y="4690872"/>
            <a:ext cx="5669280" cy="457200"/>
          </a:xfrm>
          <a:prstGeom prst="rect">
            <a:avLst/>
          </a:prstGeom>
          <a:noFill/>
          <a:ln/>
        </p:spPr>
        <p:txBody>
          <a:bodyPr wrap="square" lIns="0" tIns="0" rIns="0" bIns="0" rtlCol="0" anchor="t"/>
          <a:lstStyle/>
          <a:p>
            <a:pPr indent="0" marL="0">
              <a:lnSpc>
                <a:spcPct val="115000"/>
              </a:lnSpc>
              <a:buNone/>
            </a:pPr>
            <a:r>
              <a:rPr lang="en-US" sz="1250" dirty="0">
                <a:solidFill>
                  <a:srgbClr val="8F949D"/>
                </a:solidFill>
                <a:latin typeface="Calibri" pitchFamily="34" charset="0"/>
                <a:ea typeface="Calibri" pitchFamily="34" charset="-122"/>
                <a:cs typeface="Calibri" pitchFamily="34" charset="-120"/>
              </a:rPr>
              <a:t>A plan is approved by the person who wrote it, against no stated bar.</a:t>
            </a:r>
            <a:endParaRPr lang="en-US" sz="1250" dirty="0"/>
          </a:p>
        </p:txBody>
      </p:sp>
      <p:sp>
        <p:nvSpPr>
          <p:cNvPr id="15" name="Shape 13"/>
          <p:cNvSpPr/>
          <p:nvPr/>
        </p:nvSpPr>
        <p:spPr>
          <a:xfrm>
            <a:off x="640080" y="5385816"/>
            <a:ext cx="6766560" cy="1051560"/>
          </a:xfrm>
          <a:prstGeom prst="roundRect">
            <a:avLst>
              <a:gd name="adj" fmla="val 6957"/>
            </a:avLst>
          </a:prstGeom>
          <a:solidFill>
            <a:srgbClr val="16181D"/>
          </a:solidFill>
          <a:ln w="12700">
            <a:solidFill>
              <a:srgbClr val="2F3239"/>
            </a:solidFill>
            <a:prstDash val="solid"/>
          </a:ln>
        </p:spPr>
      </p:sp>
      <p:sp>
        <p:nvSpPr>
          <p:cNvPr id="16" name="Shape 14"/>
          <p:cNvSpPr/>
          <p:nvPr/>
        </p:nvSpPr>
        <p:spPr>
          <a:xfrm>
            <a:off x="914400" y="5733288"/>
            <a:ext cx="365760" cy="365760"/>
          </a:xfrm>
          <a:prstGeom prst="ellipse">
            <a:avLst/>
          </a:prstGeom>
          <a:solidFill>
            <a:srgbClr val="FF6A6C"/>
          </a:solidFill>
          <a:ln w="12700">
            <a:solidFill>
              <a:srgbClr val="FF6A6C"/>
            </a:solidFill>
            <a:prstDash val="solid"/>
          </a:ln>
        </p:spPr>
      </p:sp>
      <p:sp>
        <p:nvSpPr>
          <p:cNvPr id="17" name="Text 15"/>
          <p:cNvSpPr txBox="1"/>
          <p:nvPr/>
        </p:nvSpPr>
        <p:spPr>
          <a:xfrm>
            <a:off x="914400" y="5733288"/>
            <a:ext cx="365760" cy="365760"/>
          </a:xfrm>
          <a:prstGeom prst="rect">
            <a:avLst/>
          </a:prstGeom>
          <a:noFill/>
          <a:ln/>
        </p:spPr>
        <p:txBody>
          <a:bodyPr wrap="square" lIns="0" tIns="0" rIns="0" bIns="0" rtlCol="0" anchor="ctr"/>
          <a:lstStyle/>
          <a:p>
            <a:pPr algn="ctr" indent="0" marL="0">
              <a:buNone/>
            </a:pPr>
            <a:r>
              <a:rPr lang="en-US" sz="1300" b="1" dirty="0">
                <a:solidFill>
                  <a:srgbClr val="090A0E"/>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481328" y="5568696"/>
            <a:ext cx="5669280" cy="292608"/>
          </a:xfrm>
          <a:prstGeom prst="rect">
            <a:avLst/>
          </a:prstGeom>
          <a:noFill/>
          <a:ln/>
        </p:spPr>
        <p:txBody>
          <a:bodyPr wrap="square" lIns="0" tIns="0" rIns="0" bIns="0" rtlCol="0" anchor="ctr"/>
          <a:lstStyle/>
          <a:p>
            <a:pPr indent="0" marL="0">
              <a:buNone/>
            </a:pPr>
            <a:r>
              <a:rPr lang="en-US" sz="1500" b="1" dirty="0">
                <a:solidFill>
                  <a:srgbClr val="EBEDF0"/>
                </a:solidFill>
                <a:latin typeface="Calibri" pitchFamily="34" charset="0"/>
                <a:ea typeface="Calibri" pitchFamily="34" charset="-122"/>
                <a:cs typeface="Calibri" pitchFamily="34" charset="-120"/>
              </a:rPr>
              <a:t>Red — but why?</a:t>
            </a:r>
            <a:endParaRPr lang="en-US" sz="1500" dirty="0"/>
          </a:p>
        </p:txBody>
      </p:sp>
      <p:sp>
        <p:nvSpPr>
          <p:cNvPr id="19" name="Text 17"/>
          <p:cNvSpPr txBox="1"/>
          <p:nvPr/>
        </p:nvSpPr>
        <p:spPr>
          <a:xfrm>
            <a:off x="1481328" y="5897880"/>
            <a:ext cx="5669280" cy="457200"/>
          </a:xfrm>
          <a:prstGeom prst="rect">
            <a:avLst/>
          </a:prstGeom>
          <a:noFill/>
          <a:ln/>
        </p:spPr>
        <p:txBody>
          <a:bodyPr wrap="square" lIns="0" tIns="0" rIns="0" bIns="0" rtlCol="0" anchor="t"/>
          <a:lstStyle/>
          <a:p>
            <a:pPr indent="0" marL="0">
              <a:lnSpc>
                <a:spcPct val="115000"/>
              </a:lnSpc>
              <a:buNone/>
            </a:pPr>
            <a:r>
              <a:rPr lang="en-US" sz="1250" dirty="0">
                <a:solidFill>
                  <a:srgbClr val="8F949D"/>
                </a:solidFill>
                <a:latin typeface="Calibri" pitchFamily="34" charset="0"/>
                <a:ea typeface="Calibri" pitchFamily="34" charset="-122"/>
                <a:cs typeface="Calibri" pitchFamily="34" charset="-120"/>
              </a:rPr>
              <a:t>Every failure costs a human triage before anyone knows if it is a bug.</a:t>
            </a:r>
            <a:endParaRPr lang="en-US" sz="1250" dirty="0"/>
          </a:p>
        </p:txBody>
      </p:sp>
      <p:sp>
        <p:nvSpPr>
          <p:cNvPr id="20" name="Shape 18"/>
          <p:cNvSpPr/>
          <p:nvPr/>
        </p:nvSpPr>
        <p:spPr>
          <a:xfrm>
            <a:off x="7772400" y="1371600"/>
            <a:ext cx="3749040" cy="4617720"/>
          </a:xfrm>
          <a:prstGeom prst="roundRect">
            <a:avLst>
              <a:gd name="adj" fmla="val 1951"/>
            </a:avLst>
          </a:prstGeom>
          <a:solidFill>
            <a:srgbClr val="1E2026"/>
          </a:solidFill>
          <a:ln w="12700">
            <a:solidFill>
              <a:srgbClr val="2F3239"/>
            </a:solidFill>
            <a:prstDash val="solid"/>
          </a:ln>
        </p:spPr>
      </p:sp>
      <p:sp>
        <p:nvSpPr>
          <p:cNvPr id="21" name="Text 19"/>
          <p:cNvSpPr txBox="1"/>
          <p:nvPr/>
        </p:nvSpPr>
        <p:spPr>
          <a:xfrm>
            <a:off x="8046720" y="1645920"/>
            <a:ext cx="3200400" cy="228600"/>
          </a:xfrm>
          <a:prstGeom prst="rect">
            <a:avLst/>
          </a:prstGeom>
          <a:noFill/>
          <a:ln/>
        </p:spPr>
        <p:txBody>
          <a:bodyPr wrap="square" lIns="0" tIns="0" rIns="0" bIns="0" rtlCol="0" anchor="ctr"/>
          <a:lstStyle/>
          <a:p>
            <a:pPr indent="0" marL="0">
              <a:buNone/>
            </a:pPr>
            <a:r>
              <a:rPr lang="en-US" sz="1000" b="1" spc="150" kern="0" dirty="0">
                <a:solidFill>
                  <a:srgbClr val="F06504"/>
                </a:solidFill>
                <a:latin typeface="Calibri" pitchFamily="34" charset="0"/>
                <a:ea typeface="Calibri" pitchFamily="34" charset="-122"/>
                <a:cs typeface="Calibri" pitchFamily="34" charset="-120"/>
              </a:rPr>
              <a:t>FROM THE BRIEF</a:t>
            </a:r>
            <a:endParaRPr lang="en-US" sz="1000" dirty="0"/>
          </a:p>
        </p:txBody>
      </p:sp>
      <p:sp>
        <p:nvSpPr>
          <p:cNvPr id="22" name="Text 20"/>
          <p:cNvSpPr txBox="1"/>
          <p:nvPr/>
        </p:nvSpPr>
        <p:spPr>
          <a:xfrm>
            <a:off x="8046720" y="2011680"/>
            <a:ext cx="3200400" cy="1645920"/>
          </a:xfrm>
          <a:prstGeom prst="rect">
            <a:avLst/>
          </a:prstGeom>
          <a:noFill/>
          <a:ln/>
        </p:spPr>
        <p:txBody>
          <a:bodyPr wrap="square" lIns="0" tIns="0" rIns="0" bIns="0" rtlCol="0" anchor="t"/>
          <a:lstStyle/>
          <a:p>
            <a:pPr indent="0" marL="0">
              <a:lnSpc>
                <a:spcPct val="115000"/>
              </a:lnSpc>
              <a:buNone/>
            </a:pPr>
            <a:r>
              <a:rPr lang="en-US" sz="1400" i="1" dirty="0">
                <a:solidFill>
                  <a:srgbClr val="D1D4D9"/>
                </a:solidFill>
                <a:latin typeface="Calibri" pitchFamily="34" charset="0"/>
                <a:ea typeface="Calibri" pitchFamily="34" charset="-122"/>
                <a:cs typeface="Calibri" pitchFamily="34" charset="-120"/>
              </a:rPr>
              <a:t>“The core problem is not execution — it is decision-making: figuring out what to test, evaluating whether the right things were tested, and knowing when a failure reflects a real defect versus a broken script.”</a:t>
            </a:r>
            <a:endParaRPr lang="en-US" sz="1400" dirty="0"/>
          </a:p>
        </p:txBody>
      </p:sp>
      <p:sp>
        <p:nvSpPr>
          <p:cNvPr id="23" name="Text 21"/>
          <p:cNvSpPr txBox="1"/>
          <p:nvPr/>
        </p:nvSpPr>
        <p:spPr>
          <a:xfrm>
            <a:off x="8046720" y="3749040"/>
            <a:ext cx="3200400" cy="1554480"/>
          </a:xfrm>
          <a:prstGeom prst="rect">
            <a:avLst/>
          </a:prstGeom>
          <a:noFill/>
          <a:ln/>
        </p:spPr>
        <p:txBody>
          <a:bodyPr wrap="square" lIns="0" tIns="0" rIns="0" bIns="0" rtlCol="0" anchor="t"/>
          <a:lstStyle/>
          <a:p>
            <a:pPr indent="0" marL="0">
              <a:lnSpc>
                <a:spcPct val="115000"/>
              </a:lnSpc>
              <a:buNone/>
            </a:pPr>
            <a:r>
              <a:rPr lang="en-US" sz="1400" i="1" dirty="0">
                <a:solidFill>
                  <a:srgbClr val="D1D4D9"/>
                </a:solidFill>
                <a:latin typeface="Calibri" pitchFamily="34" charset="0"/>
                <a:ea typeface="Calibri" pitchFamily="34" charset="-122"/>
                <a:cs typeface="Calibri" pitchFamily="34" charset="-120"/>
              </a:rPr>
              <a:t>“What they do not do is orchestrate these capabilities end to end — deciding when to plan, when to generate, when to heal, and when to escalate — without a human directing each step.”</a:t>
            </a:r>
            <a:endParaRPr lang="en-US" sz="1400" dirty="0"/>
          </a:p>
        </p:txBody>
      </p:sp>
      <p:sp>
        <p:nvSpPr>
          <p:cNvPr id="24" name="Text 22"/>
          <p:cNvSpPr txBox="1"/>
          <p:nvPr/>
        </p:nvSpPr>
        <p:spPr>
          <a:xfrm>
            <a:off x="8046720" y="5532120"/>
            <a:ext cx="3200400" cy="274320"/>
          </a:xfrm>
          <a:prstGeom prst="rect">
            <a:avLst/>
          </a:prstGeom>
          <a:noFill/>
          <a:ln/>
        </p:spPr>
        <p:txBody>
          <a:bodyPr wrap="square" lIns="0" tIns="0" rIns="0" bIns="0" rtlCol="0" anchor="ctr"/>
          <a:lstStyle/>
          <a:p>
            <a:pPr indent="0" marL="0">
              <a:buNone/>
            </a:pPr>
            <a:r>
              <a:rPr lang="en-US" sz="1100" dirty="0">
                <a:solidFill>
                  <a:srgbClr val="8F949D"/>
                </a:solidFill>
                <a:latin typeface="Calibri" pitchFamily="34" charset="0"/>
                <a:ea typeface="Calibri" pitchFamily="34" charset="-122"/>
                <a:cs typeface="Calibri" pitchFamily="34" charset="-120"/>
              </a:rPr>
              <a:t>— the problem statement, §1 and §2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A0E"/>
        </a:solidFill>
      </p:bgPr>
    </p:bg>
    <p:spTree>
      <p:nvGrpSpPr>
        <p:cNvPr id="1" name=""/>
        <p:cNvGrpSpPr/>
        <p:nvPr/>
      </p:nvGrpSpPr>
      <p:grpSpPr>
        <a:xfrm>
          <a:off x="0" y="0"/>
          <a:ext cx="0" cy="0"/>
          <a:chOff x="0" y="0"/>
          <a:chExt cx="0" cy="0"/>
        </a:xfrm>
      </p:grpSpPr>
      <p:sp>
        <p:nvSpPr>
          <p:cNvPr id="2" name="Text 0"/>
          <p:cNvSpPr txBox="1"/>
          <p:nvPr/>
        </p:nvSpPr>
        <p:spPr>
          <a:xfrm>
            <a:off x="640080" y="274320"/>
            <a:ext cx="10881360" cy="228600"/>
          </a:xfrm>
          <a:prstGeom prst="rect">
            <a:avLst/>
          </a:prstGeom>
          <a:noFill/>
          <a:ln/>
        </p:spPr>
        <p:txBody>
          <a:bodyPr wrap="square" lIns="0" tIns="0" rIns="0" bIns="0" rtlCol="0" anchor="ctr"/>
          <a:lstStyle/>
          <a:p>
            <a:pPr indent="0" marL="0">
              <a:buNone/>
            </a:pPr>
            <a:r>
              <a:rPr lang="en-US" sz="1100" b="1" spc="200" kern="0" dirty="0">
                <a:solidFill>
                  <a:srgbClr val="F06504"/>
                </a:solidFill>
                <a:latin typeface="Calibri" pitchFamily="34" charset="0"/>
                <a:ea typeface="Calibri" pitchFamily="34" charset="-122"/>
                <a:cs typeface="Calibri" pitchFamily="34" charset="-120"/>
              </a:rPr>
              <a:t>WHY THIS IS NOT SOLVED ALREADY</a:t>
            </a:r>
            <a:endParaRPr lang="en-US" sz="1100" dirty="0"/>
          </a:p>
        </p:txBody>
      </p:sp>
      <p:sp>
        <p:nvSpPr>
          <p:cNvPr id="3" name="Text 1"/>
          <p:cNvSpPr txBox="1"/>
          <p:nvPr/>
        </p:nvSpPr>
        <p:spPr>
          <a:xfrm>
            <a:off x="640080" y="502920"/>
            <a:ext cx="10881360" cy="868680"/>
          </a:xfrm>
          <a:prstGeom prst="rect">
            <a:avLst/>
          </a:prstGeom>
          <a:noFill/>
          <a:ln/>
        </p:spPr>
        <p:txBody>
          <a:bodyPr wrap="square" lIns="0" tIns="0" rIns="0" bIns="0" rtlCol="0" anchor="ctr"/>
          <a:lstStyle/>
          <a:p>
            <a:pPr algn="l" indent="0" marL="0">
              <a:buNone/>
            </a:pPr>
            <a:r>
              <a:rPr lang="en-US" sz="3400" b="1" dirty="0">
                <a:solidFill>
                  <a:srgbClr val="EBEDF0"/>
                </a:solidFill>
                <a:latin typeface="Cambria" pitchFamily="34" charset="0"/>
                <a:ea typeface="Cambria" pitchFamily="34" charset="-122"/>
                <a:cs typeface="Cambria" pitchFamily="34" charset="-120"/>
              </a:rPr>
              <a:t>Playwright already ships all three</a:t>
            </a:r>
            <a:endParaRPr lang="en-US" sz="3400" dirty="0"/>
          </a:p>
        </p:txBody>
      </p:sp>
      <p:sp>
        <p:nvSpPr>
          <p:cNvPr id="4" name="Text 2"/>
          <p:cNvSpPr txBox="1"/>
          <p:nvPr/>
        </p:nvSpPr>
        <p:spPr>
          <a:xfrm>
            <a:off x="640080" y="1371600"/>
            <a:ext cx="10881360" cy="822960"/>
          </a:xfrm>
          <a:prstGeom prst="rect">
            <a:avLst/>
          </a:prstGeom>
          <a:noFill/>
          <a:ln/>
        </p:spPr>
        <p:txBody>
          <a:bodyPr wrap="square" lIns="0" tIns="0" rIns="0" bIns="0" rtlCol="0" anchor="t"/>
          <a:lstStyle/>
          <a:p>
            <a:pPr indent="0" marL="0">
              <a:lnSpc>
                <a:spcPct val="115000"/>
              </a:lnSpc>
              <a:buNone/>
            </a:pPr>
            <a:r>
              <a:rPr lang="en-US" sz="1500" dirty="0">
                <a:solidFill>
                  <a:srgbClr val="B2B6BE"/>
                </a:solidFill>
                <a:latin typeface="Calibri" pitchFamily="34" charset="0"/>
                <a:ea typeface="Calibri" pitchFamily="34" charset="-122"/>
                <a:cs typeface="Calibri" pitchFamily="34" charset="-120"/>
              </a:rPr>
              <a:t>npx playwright init-agents installs a Planner, a Generator and a Healer today. The brief names those three word for word. So the sub-agents are table stakes — and Playwright's own documentation tells you what to do with them:</a:t>
            </a:r>
            <a:endParaRPr lang="en-US" sz="1500" dirty="0"/>
          </a:p>
        </p:txBody>
      </p:sp>
      <p:sp>
        <p:nvSpPr>
          <p:cNvPr id="5" name="Shape 3"/>
          <p:cNvSpPr/>
          <p:nvPr/>
        </p:nvSpPr>
        <p:spPr>
          <a:xfrm>
            <a:off x="640080" y="2514600"/>
            <a:ext cx="3429000" cy="1234440"/>
          </a:xfrm>
          <a:prstGeom prst="roundRect">
            <a:avLst>
              <a:gd name="adj" fmla="val 5926"/>
            </a:avLst>
          </a:prstGeom>
          <a:solidFill>
            <a:srgbClr val="16181D"/>
          </a:solidFill>
          <a:ln w="12700">
            <a:solidFill>
              <a:srgbClr val="FF6A6C"/>
            </a:solidFill>
            <a:prstDash val="solid"/>
          </a:ln>
        </p:spPr>
      </p:sp>
      <p:sp>
        <p:nvSpPr>
          <p:cNvPr id="6" name="Text 4"/>
          <p:cNvSpPr txBox="1"/>
          <p:nvPr/>
        </p:nvSpPr>
        <p:spPr>
          <a:xfrm>
            <a:off x="868680" y="2697480"/>
            <a:ext cx="3017520" cy="292608"/>
          </a:xfrm>
          <a:prstGeom prst="rect">
            <a:avLst/>
          </a:prstGeom>
          <a:noFill/>
          <a:ln/>
        </p:spPr>
        <p:txBody>
          <a:bodyPr wrap="square" lIns="0" tIns="0" rIns="0" bIns="0" rtlCol="0" anchor="ctr"/>
          <a:lstStyle/>
          <a:p>
            <a:pPr indent="0" marL="0">
              <a:buNone/>
            </a:pPr>
            <a:r>
              <a:rPr lang="en-US" sz="1300" b="1" dirty="0">
                <a:solidFill>
                  <a:srgbClr val="FF6A6C"/>
                </a:solidFill>
                <a:latin typeface="Courier New" pitchFamily="34" charset="0"/>
                <a:ea typeface="Courier New" pitchFamily="34" charset="-122"/>
                <a:cs typeface="Courier New" pitchFamily="34" charset="-120"/>
              </a:rPr>
              <a:t>after PLAN</a:t>
            </a:r>
            <a:endParaRPr lang="en-US" sz="1300" dirty="0"/>
          </a:p>
        </p:txBody>
      </p:sp>
      <p:sp>
        <p:nvSpPr>
          <p:cNvPr id="7" name="Text 5"/>
          <p:cNvSpPr txBox="1"/>
          <p:nvPr/>
        </p:nvSpPr>
        <p:spPr>
          <a:xfrm>
            <a:off x="868680" y="3035808"/>
            <a:ext cx="3017520" cy="548640"/>
          </a:xfrm>
          <a:prstGeom prst="rect">
            <a:avLst/>
          </a:prstGeom>
          <a:noFill/>
          <a:ln/>
        </p:spPr>
        <p:txBody>
          <a:bodyPr wrap="square" lIns="0" tIns="0" rIns="0" bIns="0" rtlCol="0" anchor="t"/>
          <a:lstStyle/>
          <a:p>
            <a:pPr indent="0" marL="0">
              <a:lnSpc>
                <a:spcPct val="115000"/>
              </a:lnSpc>
              <a:buNone/>
            </a:pPr>
            <a:r>
              <a:rPr lang="en-US" sz="1300" dirty="0">
                <a:solidFill>
                  <a:srgbClr val="B2B6BE"/>
                </a:solidFill>
                <a:latin typeface="Calibri" pitchFamily="34" charset="0"/>
                <a:ea typeface="Calibri" pitchFamily="34" charset="-122"/>
                <a:cs typeface="Calibri" pitchFamily="34" charset="-120"/>
              </a:rPr>
              <a:t>a human reviews the plan</a:t>
            </a:r>
            <a:endParaRPr lang="en-US" sz="1300" dirty="0"/>
          </a:p>
        </p:txBody>
      </p:sp>
      <p:sp>
        <p:nvSpPr>
          <p:cNvPr id="8" name="Text 6"/>
          <p:cNvSpPr txBox="1"/>
          <p:nvPr/>
        </p:nvSpPr>
        <p:spPr>
          <a:xfrm>
            <a:off x="868680" y="3429000"/>
            <a:ext cx="3017520" cy="228600"/>
          </a:xfrm>
          <a:prstGeom prst="rect">
            <a:avLst/>
          </a:prstGeom>
          <a:noFill/>
          <a:ln/>
        </p:spPr>
        <p:txBody>
          <a:bodyPr wrap="square" lIns="0" tIns="0" rIns="0" bIns="0" rtlCol="0" anchor="ctr"/>
          <a:lstStyle/>
          <a:p>
            <a:pPr indent="0" marL="0">
              <a:buNone/>
            </a:pPr>
            <a:r>
              <a:rPr lang="en-US" sz="1000" b="1" spc="150" kern="0" dirty="0">
                <a:solidFill>
                  <a:srgbClr val="FF6A6C"/>
                </a:solidFill>
                <a:latin typeface="Calibri" pitchFamily="34" charset="0"/>
                <a:ea typeface="Calibri" pitchFamily="34" charset="-122"/>
                <a:cs typeface="Calibri" pitchFamily="34" charset="-120"/>
              </a:rPr>
              <a:t>HUMAN GATE</a:t>
            </a:r>
            <a:endParaRPr lang="en-US" sz="1000" dirty="0"/>
          </a:p>
        </p:txBody>
      </p:sp>
      <p:sp>
        <p:nvSpPr>
          <p:cNvPr id="9" name="Shape 7"/>
          <p:cNvSpPr/>
          <p:nvPr/>
        </p:nvSpPr>
        <p:spPr>
          <a:xfrm>
            <a:off x="4325112" y="2514600"/>
            <a:ext cx="3429000" cy="1234440"/>
          </a:xfrm>
          <a:prstGeom prst="roundRect">
            <a:avLst>
              <a:gd name="adj" fmla="val 5926"/>
            </a:avLst>
          </a:prstGeom>
          <a:solidFill>
            <a:srgbClr val="16181D"/>
          </a:solidFill>
          <a:ln w="12700">
            <a:solidFill>
              <a:srgbClr val="FF6A6C"/>
            </a:solidFill>
            <a:prstDash val="solid"/>
          </a:ln>
        </p:spPr>
      </p:sp>
      <p:sp>
        <p:nvSpPr>
          <p:cNvPr id="10" name="Text 8"/>
          <p:cNvSpPr txBox="1"/>
          <p:nvPr/>
        </p:nvSpPr>
        <p:spPr>
          <a:xfrm>
            <a:off x="4553712" y="2697480"/>
            <a:ext cx="3017520" cy="292608"/>
          </a:xfrm>
          <a:prstGeom prst="rect">
            <a:avLst/>
          </a:prstGeom>
          <a:noFill/>
          <a:ln/>
        </p:spPr>
        <p:txBody>
          <a:bodyPr wrap="square" lIns="0" tIns="0" rIns="0" bIns="0" rtlCol="0" anchor="ctr"/>
          <a:lstStyle/>
          <a:p>
            <a:pPr indent="0" marL="0">
              <a:buNone/>
            </a:pPr>
            <a:r>
              <a:rPr lang="en-US" sz="1300" b="1" dirty="0">
                <a:solidFill>
                  <a:srgbClr val="FF6A6C"/>
                </a:solidFill>
                <a:latin typeface="Courier New" pitchFamily="34" charset="0"/>
                <a:ea typeface="Courier New" pitchFamily="34" charset="-122"/>
                <a:cs typeface="Courier New" pitchFamily="34" charset="-120"/>
              </a:rPr>
              <a:t>after GENERATE</a:t>
            </a:r>
            <a:endParaRPr lang="en-US" sz="1300" dirty="0"/>
          </a:p>
        </p:txBody>
      </p:sp>
      <p:sp>
        <p:nvSpPr>
          <p:cNvPr id="11" name="Text 9"/>
          <p:cNvSpPr txBox="1"/>
          <p:nvPr/>
        </p:nvSpPr>
        <p:spPr>
          <a:xfrm>
            <a:off x="4553712" y="3035808"/>
            <a:ext cx="3017520" cy="548640"/>
          </a:xfrm>
          <a:prstGeom prst="rect">
            <a:avLst/>
          </a:prstGeom>
          <a:noFill/>
          <a:ln/>
        </p:spPr>
        <p:txBody>
          <a:bodyPr wrap="square" lIns="0" tIns="0" rIns="0" bIns="0" rtlCol="0" anchor="t"/>
          <a:lstStyle/>
          <a:p>
            <a:pPr indent="0" marL="0">
              <a:lnSpc>
                <a:spcPct val="115000"/>
              </a:lnSpc>
              <a:buNone/>
            </a:pPr>
            <a:r>
              <a:rPr lang="en-US" sz="1300" dirty="0">
                <a:solidFill>
                  <a:srgbClr val="B2B6BE"/>
                </a:solidFill>
                <a:latin typeface="Calibri" pitchFamily="34" charset="0"/>
                <a:ea typeface="Calibri" pitchFamily="34" charset="-122"/>
                <a:cs typeface="Calibri" pitchFamily="34" charset="-120"/>
              </a:rPr>
              <a:t>a human reviews the tests</a:t>
            </a:r>
            <a:endParaRPr lang="en-US" sz="1300" dirty="0"/>
          </a:p>
        </p:txBody>
      </p:sp>
      <p:sp>
        <p:nvSpPr>
          <p:cNvPr id="12" name="Text 10"/>
          <p:cNvSpPr txBox="1"/>
          <p:nvPr/>
        </p:nvSpPr>
        <p:spPr>
          <a:xfrm>
            <a:off x="4553712" y="3429000"/>
            <a:ext cx="3017520" cy="228600"/>
          </a:xfrm>
          <a:prstGeom prst="rect">
            <a:avLst/>
          </a:prstGeom>
          <a:noFill/>
          <a:ln/>
        </p:spPr>
        <p:txBody>
          <a:bodyPr wrap="square" lIns="0" tIns="0" rIns="0" bIns="0" rtlCol="0" anchor="ctr"/>
          <a:lstStyle/>
          <a:p>
            <a:pPr indent="0" marL="0">
              <a:buNone/>
            </a:pPr>
            <a:r>
              <a:rPr lang="en-US" sz="1000" b="1" spc="150" kern="0" dirty="0">
                <a:solidFill>
                  <a:srgbClr val="FF6A6C"/>
                </a:solidFill>
                <a:latin typeface="Calibri" pitchFamily="34" charset="0"/>
                <a:ea typeface="Calibri" pitchFamily="34" charset="-122"/>
                <a:cs typeface="Calibri" pitchFamily="34" charset="-120"/>
              </a:rPr>
              <a:t>HUMAN GATE</a:t>
            </a:r>
            <a:endParaRPr lang="en-US" sz="1000" dirty="0"/>
          </a:p>
        </p:txBody>
      </p:sp>
      <p:sp>
        <p:nvSpPr>
          <p:cNvPr id="13" name="Shape 11"/>
          <p:cNvSpPr/>
          <p:nvPr/>
        </p:nvSpPr>
        <p:spPr>
          <a:xfrm>
            <a:off x="8010144" y="2514600"/>
            <a:ext cx="3429000" cy="1234440"/>
          </a:xfrm>
          <a:prstGeom prst="roundRect">
            <a:avLst>
              <a:gd name="adj" fmla="val 5926"/>
            </a:avLst>
          </a:prstGeom>
          <a:solidFill>
            <a:srgbClr val="16181D"/>
          </a:solidFill>
          <a:ln w="12700">
            <a:solidFill>
              <a:srgbClr val="FF6A6C"/>
            </a:solidFill>
            <a:prstDash val="solid"/>
          </a:ln>
        </p:spPr>
      </p:sp>
      <p:sp>
        <p:nvSpPr>
          <p:cNvPr id="14" name="Text 12"/>
          <p:cNvSpPr txBox="1"/>
          <p:nvPr/>
        </p:nvSpPr>
        <p:spPr>
          <a:xfrm>
            <a:off x="8238744" y="2697480"/>
            <a:ext cx="3017520" cy="292608"/>
          </a:xfrm>
          <a:prstGeom prst="rect">
            <a:avLst/>
          </a:prstGeom>
          <a:noFill/>
          <a:ln/>
        </p:spPr>
        <p:txBody>
          <a:bodyPr wrap="square" lIns="0" tIns="0" rIns="0" bIns="0" rtlCol="0" anchor="ctr"/>
          <a:lstStyle/>
          <a:p>
            <a:pPr indent="0" marL="0">
              <a:buNone/>
            </a:pPr>
            <a:r>
              <a:rPr lang="en-US" sz="1300" b="1" dirty="0">
                <a:solidFill>
                  <a:srgbClr val="FF6A6C"/>
                </a:solidFill>
                <a:latin typeface="Courier New" pitchFamily="34" charset="0"/>
                <a:ea typeface="Courier New" pitchFamily="34" charset="-122"/>
                <a:cs typeface="Courier New" pitchFamily="34" charset="-120"/>
              </a:rPr>
              <a:t>after HEAL</a:t>
            </a:r>
            <a:endParaRPr lang="en-US" sz="1300" dirty="0"/>
          </a:p>
        </p:txBody>
      </p:sp>
      <p:sp>
        <p:nvSpPr>
          <p:cNvPr id="15" name="Text 13"/>
          <p:cNvSpPr txBox="1"/>
          <p:nvPr/>
        </p:nvSpPr>
        <p:spPr>
          <a:xfrm>
            <a:off x="8238744" y="3035808"/>
            <a:ext cx="3017520" cy="548640"/>
          </a:xfrm>
          <a:prstGeom prst="rect">
            <a:avLst/>
          </a:prstGeom>
          <a:noFill/>
          <a:ln/>
        </p:spPr>
        <p:txBody>
          <a:bodyPr wrap="square" lIns="0" tIns="0" rIns="0" bIns="0" rtlCol="0" anchor="t"/>
          <a:lstStyle/>
          <a:p>
            <a:pPr indent="0" marL="0">
              <a:lnSpc>
                <a:spcPct val="115000"/>
              </a:lnSpc>
              <a:buNone/>
            </a:pPr>
            <a:r>
              <a:rPr lang="en-US" sz="1300" dirty="0">
                <a:solidFill>
                  <a:srgbClr val="B2B6BE"/>
                </a:solidFill>
                <a:latin typeface="Calibri" pitchFamily="34" charset="0"/>
                <a:ea typeface="Calibri" pitchFamily="34" charset="-122"/>
                <a:cs typeface="Calibri" pitchFamily="34" charset="-120"/>
              </a:rPr>
              <a:t>a human reviews the patch</a:t>
            </a:r>
            <a:endParaRPr lang="en-US" sz="1300" dirty="0"/>
          </a:p>
        </p:txBody>
      </p:sp>
      <p:sp>
        <p:nvSpPr>
          <p:cNvPr id="16" name="Text 14"/>
          <p:cNvSpPr txBox="1"/>
          <p:nvPr/>
        </p:nvSpPr>
        <p:spPr>
          <a:xfrm>
            <a:off x="8238744" y="3429000"/>
            <a:ext cx="3017520" cy="228600"/>
          </a:xfrm>
          <a:prstGeom prst="rect">
            <a:avLst/>
          </a:prstGeom>
          <a:noFill/>
          <a:ln/>
        </p:spPr>
        <p:txBody>
          <a:bodyPr wrap="square" lIns="0" tIns="0" rIns="0" bIns="0" rtlCol="0" anchor="ctr"/>
          <a:lstStyle/>
          <a:p>
            <a:pPr indent="0" marL="0">
              <a:buNone/>
            </a:pPr>
            <a:r>
              <a:rPr lang="en-US" sz="1000" b="1" spc="150" kern="0" dirty="0">
                <a:solidFill>
                  <a:srgbClr val="FF6A6C"/>
                </a:solidFill>
                <a:latin typeface="Calibri" pitchFamily="34" charset="0"/>
                <a:ea typeface="Calibri" pitchFamily="34" charset="-122"/>
                <a:cs typeface="Calibri" pitchFamily="34" charset="-120"/>
              </a:rPr>
              <a:t>HUMAN GATE</a:t>
            </a:r>
            <a:endParaRPr lang="en-US" sz="1000" dirty="0"/>
          </a:p>
        </p:txBody>
      </p:sp>
      <p:sp>
        <p:nvSpPr>
          <p:cNvPr id="17" name="Shape 15"/>
          <p:cNvSpPr/>
          <p:nvPr/>
        </p:nvSpPr>
        <p:spPr>
          <a:xfrm>
            <a:off x="640080" y="4069080"/>
            <a:ext cx="10881360" cy="1965960"/>
          </a:xfrm>
          <a:prstGeom prst="roundRect">
            <a:avLst>
              <a:gd name="adj" fmla="val 3721"/>
            </a:avLst>
          </a:prstGeom>
          <a:solidFill>
            <a:srgbClr val="1E2026"/>
          </a:solidFill>
          <a:ln w="12700">
            <a:solidFill>
              <a:srgbClr val="F06504"/>
            </a:solidFill>
            <a:prstDash val="solid"/>
          </a:ln>
        </p:spPr>
      </p:sp>
      <p:sp>
        <p:nvSpPr>
          <p:cNvPr id="18" name="Text 16"/>
          <p:cNvSpPr txBox="1"/>
          <p:nvPr/>
        </p:nvSpPr>
        <p:spPr>
          <a:xfrm>
            <a:off x="1005840" y="4315968"/>
            <a:ext cx="10149840" cy="777240"/>
          </a:xfrm>
          <a:prstGeom prst="rect">
            <a:avLst/>
          </a:prstGeom>
          <a:noFill/>
          <a:ln/>
        </p:spPr>
        <p:txBody>
          <a:bodyPr wrap="square" lIns="0" tIns="0" rIns="0" bIns="0" rtlCol="0" anchor="ctr"/>
          <a:lstStyle/>
          <a:p>
            <a:pPr indent="0" marL="0">
              <a:lnSpc>
                <a:spcPct val="110000"/>
              </a:lnSpc>
              <a:buNone/>
            </a:pPr>
            <a:r>
              <a:rPr lang="en-US" sz="2000" b="1" dirty="0">
                <a:solidFill>
                  <a:srgbClr val="EBEDF0"/>
                </a:solidFill>
                <a:latin typeface="Cambria" pitchFamily="34" charset="0"/>
                <a:ea typeface="Cambria" pitchFamily="34" charset="-122"/>
                <a:cs typeface="Cambria" pitchFamily="34" charset="-120"/>
              </a:rPr>
              <a:t>The Odyssey deletes those three humans and replaces them with machine judgment that shows its working.</a:t>
            </a:r>
            <a:endParaRPr lang="en-US" sz="2000" dirty="0"/>
          </a:p>
        </p:txBody>
      </p:sp>
      <p:sp>
        <p:nvSpPr>
          <p:cNvPr id="19" name="Text 17"/>
          <p:cNvSpPr txBox="1"/>
          <p:nvPr/>
        </p:nvSpPr>
        <p:spPr>
          <a:xfrm>
            <a:off x="1005840" y="5120640"/>
            <a:ext cx="10149840" cy="822960"/>
          </a:xfrm>
          <a:prstGeom prst="rect">
            <a:avLst/>
          </a:prstGeom>
          <a:noFill/>
          <a:ln/>
        </p:spPr>
        <p:txBody>
          <a:bodyPr wrap="square" lIns="0" tIns="0" rIns="0" bIns="0" rtlCol="0" anchor="t"/>
          <a:lstStyle/>
          <a:p>
            <a:pPr indent="0" marL="0">
              <a:lnSpc>
                <a:spcPct val="115000"/>
              </a:lnSpc>
              <a:buNone/>
            </a:pPr>
            <a:r>
              <a:rPr lang="en-US" sz="1350" dirty="0">
                <a:solidFill>
                  <a:srgbClr val="B2B6BE"/>
                </a:solidFill>
                <a:latin typeface="Calibri" pitchFamily="34" charset="0"/>
                <a:ea typeface="Calibri" pitchFamily="34" charset="-122"/>
                <a:cs typeface="Calibri" pitchFamily="34" charset="-120"/>
              </a:rPr>
              <a:t>Four decisions the pipeline makes on its own: whether its plan is good enough, whether a plan that cannot be built should be re-planned, whether a failure is the application's fault, and whether a proposed patch is honest. Each one emits its rationale, its confidence and the evidence it cites.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A0E"/>
        </a:solidFill>
      </p:bgPr>
    </p:bg>
    <p:spTree>
      <p:nvGrpSpPr>
        <p:cNvPr id="1" name=""/>
        <p:cNvGrpSpPr/>
        <p:nvPr/>
      </p:nvGrpSpPr>
      <p:grpSpPr>
        <a:xfrm>
          <a:off x="0" y="0"/>
          <a:ext cx="0" cy="0"/>
          <a:chOff x="0" y="0"/>
          <a:chExt cx="0" cy="0"/>
        </a:xfrm>
      </p:grpSpPr>
      <p:sp>
        <p:nvSpPr>
          <p:cNvPr id="2" name="Text 0"/>
          <p:cNvSpPr txBox="1"/>
          <p:nvPr/>
        </p:nvSpPr>
        <p:spPr>
          <a:xfrm>
            <a:off x="640080" y="274320"/>
            <a:ext cx="10881360" cy="228600"/>
          </a:xfrm>
          <a:prstGeom prst="rect">
            <a:avLst/>
          </a:prstGeom>
          <a:noFill/>
          <a:ln/>
        </p:spPr>
        <p:txBody>
          <a:bodyPr wrap="square" lIns="0" tIns="0" rIns="0" bIns="0" rtlCol="0" anchor="ctr"/>
          <a:lstStyle/>
          <a:p>
            <a:pPr indent="0" marL="0">
              <a:buNone/>
            </a:pPr>
            <a:r>
              <a:rPr lang="en-US" sz="1100" b="1" spc="200" kern="0" dirty="0">
                <a:solidFill>
                  <a:srgbClr val="F06504"/>
                </a:solidFill>
                <a:latin typeface="Calibri" pitchFamily="34" charset="0"/>
                <a:ea typeface="Calibri" pitchFamily="34" charset="-122"/>
                <a:cs typeface="Calibri" pitchFamily="34" charset="-120"/>
              </a:rPr>
              <a:t>ARCHITECTURE</a:t>
            </a:r>
            <a:endParaRPr lang="en-US" sz="1100" dirty="0"/>
          </a:p>
        </p:txBody>
      </p:sp>
      <p:sp>
        <p:nvSpPr>
          <p:cNvPr id="3" name="Text 1"/>
          <p:cNvSpPr txBox="1"/>
          <p:nvPr/>
        </p:nvSpPr>
        <p:spPr>
          <a:xfrm>
            <a:off x="640080" y="475488"/>
            <a:ext cx="10881360" cy="868680"/>
          </a:xfrm>
          <a:prstGeom prst="rect">
            <a:avLst/>
          </a:prstGeom>
          <a:noFill/>
          <a:ln/>
        </p:spPr>
        <p:txBody>
          <a:bodyPr wrap="square" lIns="0" tIns="0" rIns="0" bIns="0" rtlCol="0" anchor="ctr"/>
          <a:lstStyle/>
          <a:p>
            <a:pPr algn="l" indent="0" marL="0">
              <a:buNone/>
            </a:pPr>
            <a:r>
              <a:rPr lang="en-US" sz="3400" b="1" dirty="0">
                <a:solidFill>
                  <a:srgbClr val="EBEDF0"/>
                </a:solidFill>
                <a:latin typeface="Cambria" pitchFamily="34" charset="0"/>
                <a:ea typeface="Cambria" pitchFamily="34" charset="-122"/>
                <a:cs typeface="Cambria" pitchFamily="34" charset="-120"/>
              </a:rPr>
              <a:t>One durable state machine per run</a:t>
            </a:r>
            <a:endParaRPr lang="en-US" sz="3400" dirty="0"/>
          </a:p>
        </p:txBody>
      </p:sp>
      <p:pic>
        <p:nvPicPr>
          <p:cNvPr id="4" name="Image 0" descr="preencoded.png">    </p:cNvPr>
          <p:cNvPicPr>
            <a:picLocks noChangeAspect="1"/>
          </p:cNvPicPr>
          <p:nvPr/>
        </p:nvPicPr>
        <p:blipFill>
          <a:blip r:embed="rId1"/>
          <a:stretch>
            <a:fillRect/>
          </a:stretch>
        </p:blipFill>
        <p:spPr>
          <a:xfrm>
            <a:off x="3246120" y="1371600"/>
            <a:ext cx="5881607" cy="5257800"/>
          </a:xfrm>
          <a:prstGeom prst="rect">
            <a:avLst/>
          </a:prstGeom>
        </p:spPr>
      </p:pic>
      <p:sp>
        <p:nvSpPr>
          <p:cNvPr id="5" name="Text 2"/>
          <p:cNvSpPr txBox="1"/>
          <p:nvPr/>
        </p:nvSpPr>
        <p:spPr>
          <a:xfrm>
            <a:off x="640080" y="1600200"/>
            <a:ext cx="2286000" cy="274320"/>
          </a:xfrm>
          <a:prstGeom prst="rect">
            <a:avLst/>
          </a:prstGeom>
          <a:noFill/>
          <a:ln/>
        </p:spPr>
        <p:txBody>
          <a:bodyPr wrap="square" lIns="0" tIns="0" rIns="0" bIns="0" rtlCol="0" anchor="ctr"/>
          <a:lstStyle/>
          <a:p>
            <a:pPr indent="0" marL="0">
              <a:buNone/>
            </a:pPr>
            <a:r>
              <a:rPr lang="en-US" sz="1500" b="1" dirty="0">
                <a:solidFill>
                  <a:srgbClr val="A376E9"/>
                </a:solidFill>
                <a:latin typeface="Calibri" pitchFamily="34" charset="0"/>
                <a:ea typeface="Calibri" pitchFamily="34" charset="-122"/>
                <a:cs typeface="Calibri" pitchFamily="34" charset="-120"/>
              </a:rPr>
              <a:t>★</a:t>
            </a:r>
            <a:endParaRPr lang="en-US" sz="1500" dirty="0"/>
          </a:p>
        </p:txBody>
      </p:sp>
      <p:sp>
        <p:nvSpPr>
          <p:cNvPr id="6" name="Text 3"/>
          <p:cNvSpPr txBox="1"/>
          <p:nvPr/>
        </p:nvSpPr>
        <p:spPr>
          <a:xfrm>
            <a:off x="640080" y="1929384"/>
            <a:ext cx="2331720" cy="1097280"/>
          </a:xfrm>
          <a:prstGeom prst="rect">
            <a:avLst/>
          </a:prstGeom>
          <a:noFill/>
          <a:ln/>
        </p:spPr>
        <p:txBody>
          <a:bodyPr wrap="square" lIns="0" tIns="0" rIns="0" bIns="0" rtlCol="0" anchor="t"/>
          <a:lstStyle/>
          <a:p>
            <a:pPr indent="0" marL="0">
              <a:lnSpc>
                <a:spcPct val="115000"/>
              </a:lnSpc>
              <a:buNone/>
            </a:pPr>
            <a:r>
              <a:rPr lang="en-US" sz="1250" dirty="0">
                <a:solidFill>
                  <a:srgbClr val="8F949D"/>
                </a:solidFill>
                <a:latin typeface="Calibri" pitchFamily="34" charset="0"/>
                <a:ea typeface="Calibri" pitchFamily="34" charset="-122"/>
                <a:cs typeface="Calibri" pitchFamily="34" charset="-120"/>
              </a:rPr>
              <a:t>A judgment, not a step. Each emits its rationale, its confidence and the evidence it cites.</a:t>
            </a:r>
            <a:endParaRPr lang="en-US" sz="1250" dirty="0"/>
          </a:p>
        </p:txBody>
      </p:sp>
      <p:sp>
        <p:nvSpPr>
          <p:cNvPr id="7" name="Text 4"/>
          <p:cNvSpPr txBox="1"/>
          <p:nvPr/>
        </p:nvSpPr>
        <p:spPr>
          <a:xfrm>
            <a:off x="640080" y="3200400"/>
            <a:ext cx="2286000" cy="274320"/>
          </a:xfrm>
          <a:prstGeom prst="rect">
            <a:avLst/>
          </a:prstGeom>
          <a:noFill/>
          <a:ln/>
        </p:spPr>
        <p:txBody>
          <a:bodyPr wrap="square" lIns="0" tIns="0" rIns="0" bIns="0" rtlCol="0" anchor="ctr"/>
          <a:lstStyle/>
          <a:p>
            <a:pPr indent="0" marL="0">
              <a:buNone/>
            </a:pPr>
            <a:r>
              <a:rPr lang="en-US" sz="1500" b="1" dirty="0">
                <a:solidFill>
                  <a:srgbClr val="FD8F37"/>
                </a:solidFill>
                <a:latin typeface="Calibri" pitchFamily="34" charset="0"/>
                <a:ea typeface="Calibri" pitchFamily="34" charset="-122"/>
                <a:cs typeface="Calibri" pitchFamily="34" charset="-120"/>
              </a:rPr>
              <a:t>↺</a:t>
            </a:r>
            <a:endParaRPr lang="en-US" sz="1500" dirty="0"/>
          </a:p>
        </p:txBody>
      </p:sp>
      <p:sp>
        <p:nvSpPr>
          <p:cNvPr id="8" name="Text 5"/>
          <p:cNvSpPr txBox="1"/>
          <p:nvPr/>
        </p:nvSpPr>
        <p:spPr>
          <a:xfrm>
            <a:off x="640080" y="3529584"/>
            <a:ext cx="2331720" cy="1097280"/>
          </a:xfrm>
          <a:prstGeom prst="rect">
            <a:avLst/>
          </a:prstGeom>
          <a:noFill/>
          <a:ln/>
        </p:spPr>
        <p:txBody>
          <a:bodyPr wrap="square" lIns="0" tIns="0" rIns="0" bIns="0" rtlCol="0" anchor="t"/>
          <a:lstStyle/>
          <a:p>
            <a:pPr indent="0" marL="0">
              <a:lnSpc>
                <a:spcPct val="115000"/>
              </a:lnSpc>
              <a:buNone/>
            </a:pPr>
            <a:r>
              <a:rPr lang="en-US" sz="1250" dirty="0">
                <a:solidFill>
                  <a:srgbClr val="8F949D"/>
                </a:solidFill>
                <a:latin typeface="Calibri" pitchFamily="34" charset="0"/>
                <a:ea typeface="Calibri" pitchFamily="34" charset="-122"/>
                <a:cs typeface="Calibri" pitchFamily="34" charset="-120"/>
              </a:rPr>
              <a:t>Two re-plan loops: one when the plan scores badly, one when it cannot be built at all.</a:t>
            </a:r>
            <a:endParaRPr lang="en-US" sz="1250" dirty="0"/>
          </a:p>
        </p:txBody>
      </p:sp>
      <p:sp>
        <p:nvSpPr>
          <p:cNvPr id="9" name="Text 6"/>
          <p:cNvSpPr txBox="1"/>
          <p:nvPr/>
        </p:nvSpPr>
        <p:spPr>
          <a:xfrm>
            <a:off x="640080" y="4800600"/>
            <a:ext cx="2286000" cy="274320"/>
          </a:xfrm>
          <a:prstGeom prst="rect">
            <a:avLst/>
          </a:prstGeom>
          <a:noFill/>
          <a:ln/>
        </p:spPr>
        <p:txBody>
          <a:bodyPr wrap="square" lIns="0" tIns="0" rIns="0" bIns="0" rtlCol="0" anchor="ctr"/>
          <a:lstStyle/>
          <a:p>
            <a:pPr indent="0" marL="0">
              <a:buNone/>
            </a:pPr>
            <a:r>
              <a:rPr lang="en-US" sz="1500" b="1" dirty="0">
                <a:solidFill>
                  <a:srgbClr val="5BD390"/>
                </a:solidFill>
                <a:latin typeface="Calibri" pitchFamily="34" charset="0"/>
                <a:ea typeface="Calibri" pitchFamily="34" charset="-122"/>
                <a:cs typeface="Calibri" pitchFamily="34" charset="-120"/>
              </a:rPr>
              <a:t>MCP</a:t>
            </a:r>
            <a:endParaRPr lang="en-US" sz="1500" dirty="0"/>
          </a:p>
        </p:txBody>
      </p:sp>
      <p:sp>
        <p:nvSpPr>
          <p:cNvPr id="10" name="Text 7"/>
          <p:cNvSpPr txBox="1"/>
          <p:nvPr/>
        </p:nvSpPr>
        <p:spPr>
          <a:xfrm>
            <a:off x="640080" y="5129784"/>
            <a:ext cx="2331720" cy="1097280"/>
          </a:xfrm>
          <a:prstGeom prst="rect">
            <a:avLst/>
          </a:prstGeom>
          <a:noFill/>
          <a:ln/>
        </p:spPr>
        <p:txBody>
          <a:bodyPr wrap="square" lIns="0" tIns="0" rIns="0" bIns="0" rtlCol="0" anchor="t"/>
          <a:lstStyle/>
          <a:p>
            <a:pPr indent="0" marL="0">
              <a:lnSpc>
                <a:spcPct val="115000"/>
              </a:lnSpc>
              <a:buNone/>
            </a:pPr>
            <a:r>
              <a:rPr lang="en-US" sz="1250" dirty="0">
                <a:solidFill>
                  <a:srgbClr val="8F949D"/>
                </a:solidFill>
                <a:latin typeface="Calibri" pitchFamily="34" charset="0"/>
                <a:ea typeface="Calibri" pitchFamily="34" charset="-122"/>
                <a:cs typeface="Calibri" pitchFamily="34" charset="-120"/>
              </a:rPr>
              <a:t>Accessibility tree, not vision. Deterministic and about ten times cheaper.</a:t>
            </a:r>
            <a:endParaRPr lang="en-US" sz="1250" dirty="0"/>
          </a:p>
        </p:txBody>
      </p:sp>
      <p:sp>
        <p:nvSpPr>
          <p:cNvPr id="11" name="Text 8"/>
          <p:cNvSpPr txBox="1"/>
          <p:nvPr/>
        </p:nvSpPr>
        <p:spPr>
          <a:xfrm>
            <a:off x="9281160" y="1600200"/>
            <a:ext cx="2240280" cy="274320"/>
          </a:xfrm>
          <a:prstGeom prst="rect">
            <a:avLst/>
          </a:prstGeom>
          <a:noFill/>
          <a:ln/>
        </p:spPr>
        <p:txBody>
          <a:bodyPr wrap="square" lIns="0" tIns="0" rIns="0" bIns="0" rtlCol="0" anchor="ctr"/>
          <a:lstStyle/>
          <a:p>
            <a:pPr indent="0" marL="0">
              <a:buNone/>
            </a:pPr>
            <a:r>
              <a:rPr lang="en-US" sz="1300" b="1" dirty="0">
                <a:solidFill>
                  <a:srgbClr val="FF6A6C"/>
                </a:solidFill>
                <a:latin typeface="Courier New" pitchFamily="34" charset="0"/>
                <a:ea typeface="Courier New" pitchFamily="34" charset="-122"/>
                <a:cs typeface="Courier New" pitchFamily="34" charset="-120"/>
              </a:rPr>
              <a:t>APP_DEFECT</a:t>
            </a:r>
            <a:endParaRPr lang="en-US" sz="1300" dirty="0"/>
          </a:p>
        </p:txBody>
      </p:sp>
      <p:sp>
        <p:nvSpPr>
          <p:cNvPr id="12" name="Text 9"/>
          <p:cNvSpPr txBox="1"/>
          <p:nvPr/>
        </p:nvSpPr>
        <p:spPr>
          <a:xfrm>
            <a:off x="9281160" y="1929384"/>
            <a:ext cx="2240280" cy="1097280"/>
          </a:xfrm>
          <a:prstGeom prst="rect">
            <a:avLst/>
          </a:prstGeom>
          <a:noFill/>
          <a:ln/>
        </p:spPr>
        <p:txBody>
          <a:bodyPr wrap="square" lIns="0" tIns="0" rIns="0" bIns="0" rtlCol="0" anchor="t"/>
          <a:lstStyle/>
          <a:p>
            <a:pPr indent="0" marL="0">
              <a:lnSpc>
                <a:spcPct val="115000"/>
              </a:lnSpc>
              <a:buNone/>
            </a:pPr>
            <a:r>
              <a:rPr lang="en-US" sz="1250" dirty="0">
                <a:solidFill>
                  <a:srgbClr val="8F949D"/>
                </a:solidFill>
                <a:latin typeface="Calibri" pitchFamily="34" charset="0"/>
                <a:ea typeface="Calibri" pitchFamily="34" charset="-122"/>
                <a:cs typeface="Calibri" pitchFamily="34" charset="-120"/>
              </a:rPr>
              <a:t>never reaches the Healer. The bug is filed and the test stays red.</a:t>
            </a:r>
            <a:endParaRPr lang="en-US" sz="1250" dirty="0"/>
          </a:p>
        </p:txBody>
      </p:sp>
      <p:sp>
        <p:nvSpPr>
          <p:cNvPr id="13" name="Text 10"/>
          <p:cNvSpPr txBox="1"/>
          <p:nvPr/>
        </p:nvSpPr>
        <p:spPr>
          <a:xfrm>
            <a:off x="9281160" y="3200400"/>
            <a:ext cx="2240280" cy="274320"/>
          </a:xfrm>
          <a:prstGeom prst="rect">
            <a:avLst/>
          </a:prstGeom>
          <a:noFill/>
          <a:ln/>
        </p:spPr>
        <p:txBody>
          <a:bodyPr wrap="square" lIns="0" tIns="0" rIns="0" bIns="0" rtlCol="0" anchor="ctr"/>
          <a:lstStyle/>
          <a:p>
            <a:pPr indent="0" marL="0">
              <a:buNone/>
            </a:pPr>
            <a:r>
              <a:rPr lang="en-US" sz="1300" b="1" dirty="0">
                <a:solidFill>
                  <a:srgbClr val="5BD390"/>
                </a:solidFill>
                <a:latin typeface="Courier New" pitchFamily="34" charset="0"/>
                <a:ea typeface="Courier New" pitchFamily="34" charset="-122"/>
                <a:cs typeface="Courier New" pitchFamily="34" charset="-120"/>
              </a:rPr>
              <a:t>Coverage</a:t>
            </a:r>
            <a:endParaRPr lang="en-US" sz="1300" dirty="0"/>
          </a:p>
        </p:txBody>
      </p:sp>
      <p:sp>
        <p:nvSpPr>
          <p:cNvPr id="14" name="Text 11"/>
          <p:cNvSpPr txBox="1"/>
          <p:nvPr/>
        </p:nvSpPr>
        <p:spPr>
          <a:xfrm>
            <a:off x="9281160" y="3529584"/>
            <a:ext cx="2240280" cy="1097280"/>
          </a:xfrm>
          <a:prstGeom prst="rect">
            <a:avLst/>
          </a:prstGeom>
          <a:noFill/>
          <a:ln/>
        </p:spPr>
        <p:txBody>
          <a:bodyPr wrap="square" lIns="0" tIns="0" rIns="0" bIns="0" rtlCol="0" anchor="t"/>
          <a:lstStyle/>
          <a:p>
            <a:pPr indent="0" marL="0">
              <a:lnSpc>
                <a:spcPct val="115000"/>
              </a:lnSpc>
              <a:buNone/>
            </a:pPr>
            <a:r>
              <a:rPr lang="en-US" sz="1250" dirty="0">
                <a:solidFill>
                  <a:srgbClr val="8F949D"/>
                </a:solidFill>
                <a:latin typeface="Calibri" pitchFamily="34" charset="0"/>
                <a:ea typeface="Calibri" pitchFamily="34" charset="-122"/>
                <a:cs typeface="Calibri" pitchFamily="34" charset="-120"/>
              </a:rPr>
              <a:t>is read off the emitted suite, never off the plan's word for it.</a:t>
            </a:r>
            <a:endParaRPr lang="en-US" sz="1250" dirty="0"/>
          </a:p>
        </p:txBody>
      </p:sp>
      <p:sp>
        <p:nvSpPr>
          <p:cNvPr id="15" name="Text 12"/>
          <p:cNvSpPr txBox="1"/>
          <p:nvPr/>
        </p:nvSpPr>
        <p:spPr>
          <a:xfrm>
            <a:off x="9281160" y="4800600"/>
            <a:ext cx="2240280" cy="274320"/>
          </a:xfrm>
          <a:prstGeom prst="rect">
            <a:avLst/>
          </a:prstGeom>
          <a:noFill/>
          <a:ln/>
        </p:spPr>
        <p:txBody>
          <a:bodyPr wrap="square" lIns="0" tIns="0" rIns="0" bIns="0" rtlCol="0" anchor="ctr"/>
          <a:lstStyle/>
          <a:p>
            <a:pPr indent="0" marL="0">
              <a:buNone/>
            </a:pPr>
            <a:r>
              <a:rPr lang="en-US" sz="1300" b="1" dirty="0">
                <a:solidFill>
                  <a:srgbClr val="FD8F37"/>
                </a:solidFill>
                <a:latin typeface="Courier New" pitchFamily="34" charset="0"/>
                <a:ea typeface="Courier New" pitchFamily="34" charset="-122"/>
                <a:cs typeface="Courier New" pitchFamily="34" charset="-120"/>
              </a:rPr>
              <a:t>events.ndjson</a:t>
            </a:r>
            <a:endParaRPr lang="en-US" sz="1300" dirty="0"/>
          </a:p>
        </p:txBody>
      </p:sp>
      <p:sp>
        <p:nvSpPr>
          <p:cNvPr id="16" name="Text 13"/>
          <p:cNvSpPr txBox="1"/>
          <p:nvPr/>
        </p:nvSpPr>
        <p:spPr>
          <a:xfrm>
            <a:off x="9281160" y="5129784"/>
            <a:ext cx="2240280" cy="1097280"/>
          </a:xfrm>
          <a:prstGeom prst="rect">
            <a:avLst/>
          </a:prstGeom>
          <a:noFill/>
          <a:ln/>
        </p:spPr>
        <p:txBody>
          <a:bodyPr wrap="square" lIns="0" tIns="0" rIns="0" bIns="0" rtlCol="0" anchor="t"/>
          <a:lstStyle/>
          <a:p>
            <a:pPr indent="0" marL="0">
              <a:lnSpc>
                <a:spcPct val="115000"/>
              </a:lnSpc>
              <a:buNone/>
            </a:pPr>
            <a:r>
              <a:rPr lang="en-US" sz="1250" dirty="0">
                <a:solidFill>
                  <a:srgbClr val="8F949D"/>
                </a:solidFill>
                <a:latin typeface="Calibri" pitchFamily="34" charset="0"/>
                <a:ea typeface="Calibri" pitchFamily="34" charset="-122"/>
                <a:cs typeface="Calibri" pitchFamily="34" charset="-120"/>
              </a:rPr>
              <a:t>is the database, the crash-recovery story and the live console.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0A0E"/>
        </a:solidFill>
      </p:bgPr>
    </p:bg>
    <p:spTree>
      <p:nvGrpSpPr>
        <p:cNvPr id="1" name=""/>
        <p:cNvGrpSpPr/>
        <p:nvPr/>
      </p:nvGrpSpPr>
      <p:grpSpPr>
        <a:xfrm>
          <a:off x="0" y="0"/>
          <a:ext cx="0" cy="0"/>
          <a:chOff x="0" y="0"/>
          <a:chExt cx="0" cy="0"/>
        </a:xfrm>
      </p:grpSpPr>
      <p:sp>
        <p:nvSpPr>
          <p:cNvPr id="2" name="Text 0"/>
          <p:cNvSpPr txBox="1"/>
          <p:nvPr/>
        </p:nvSpPr>
        <p:spPr>
          <a:xfrm>
            <a:off x="640080" y="274320"/>
            <a:ext cx="10881360" cy="228600"/>
          </a:xfrm>
          <a:prstGeom prst="rect">
            <a:avLst/>
          </a:prstGeom>
          <a:noFill/>
          <a:ln/>
        </p:spPr>
        <p:txBody>
          <a:bodyPr wrap="square" lIns="0" tIns="0" rIns="0" bIns="0" rtlCol="0" anchor="ctr"/>
          <a:lstStyle/>
          <a:p>
            <a:pPr indent="0" marL="0">
              <a:buNone/>
            </a:pPr>
            <a:r>
              <a:rPr lang="en-US" sz="1100" b="1" spc="200" kern="0" dirty="0">
                <a:solidFill>
                  <a:srgbClr val="F06504"/>
                </a:solidFill>
                <a:latin typeface="Calibri" pitchFamily="34" charset="0"/>
                <a:ea typeface="Calibri" pitchFamily="34" charset="-122"/>
                <a:cs typeface="Calibri" pitchFamily="34" charset="-120"/>
              </a:rPr>
              <a:t>THE APPROACH</a:t>
            </a:r>
            <a:endParaRPr lang="en-US" sz="1100" dirty="0"/>
          </a:p>
        </p:txBody>
      </p:sp>
      <p:sp>
        <p:nvSpPr>
          <p:cNvPr id="3" name="Text 1"/>
          <p:cNvSpPr txBox="1"/>
          <p:nvPr/>
        </p:nvSpPr>
        <p:spPr>
          <a:xfrm>
            <a:off x="640080" y="502920"/>
            <a:ext cx="10881360" cy="868680"/>
          </a:xfrm>
          <a:prstGeom prst="rect">
            <a:avLst/>
          </a:prstGeom>
          <a:noFill/>
          <a:ln/>
        </p:spPr>
        <p:txBody>
          <a:bodyPr wrap="square" lIns="0" tIns="0" rIns="0" bIns="0" rtlCol="0" anchor="ctr"/>
          <a:lstStyle/>
          <a:p>
            <a:pPr algn="l" indent="0" marL="0">
              <a:buNone/>
            </a:pPr>
            <a:r>
              <a:rPr lang="en-US" sz="3400" b="1" dirty="0">
                <a:solidFill>
                  <a:srgbClr val="EBEDF0"/>
                </a:solidFill>
                <a:latin typeface="Cambria" pitchFamily="34" charset="0"/>
                <a:ea typeface="Cambria" pitchFamily="34" charset="-122"/>
                <a:cs typeface="Cambria" pitchFamily="34" charset="-120"/>
              </a:rPr>
              <a:t>Four judgments, and none of them is a prompt</a:t>
            </a:r>
            <a:endParaRPr lang="en-US" sz="3400" dirty="0"/>
          </a:p>
        </p:txBody>
      </p:sp>
      <p:sp>
        <p:nvSpPr>
          <p:cNvPr id="4" name="Shape 2"/>
          <p:cNvSpPr/>
          <p:nvPr/>
        </p:nvSpPr>
        <p:spPr>
          <a:xfrm>
            <a:off x="640080" y="1417320"/>
            <a:ext cx="5349240" cy="2103120"/>
          </a:xfrm>
          <a:prstGeom prst="roundRect">
            <a:avLst>
              <a:gd name="adj" fmla="val 3478"/>
            </a:avLst>
          </a:prstGeom>
          <a:solidFill>
            <a:srgbClr val="16181D"/>
          </a:solidFill>
          <a:ln w="12700">
            <a:solidFill>
              <a:srgbClr val="2F3239"/>
            </a:solidFill>
            <a:prstDash val="solid"/>
          </a:ln>
        </p:spPr>
      </p:sp>
      <p:sp>
        <p:nvSpPr>
          <p:cNvPr id="5" name="Shape 3"/>
          <p:cNvSpPr/>
          <p:nvPr/>
        </p:nvSpPr>
        <p:spPr>
          <a:xfrm>
            <a:off x="932688" y="1709928"/>
            <a:ext cx="402336" cy="402336"/>
          </a:xfrm>
          <a:prstGeom prst="ellipse">
            <a:avLst/>
          </a:prstGeom>
          <a:solidFill>
            <a:srgbClr val="A376E9">
              <a:alpha val="22000"/>
            </a:srgbClr>
          </a:solidFill>
          <a:ln w="12700">
            <a:solidFill>
              <a:srgbClr val="A376E9"/>
            </a:solidFill>
            <a:prstDash val="solid"/>
          </a:ln>
        </p:spPr>
      </p:sp>
      <p:sp>
        <p:nvSpPr>
          <p:cNvPr id="6" name="Text 4"/>
          <p:cNvSpPr txBox="1"/>
          <p:nvPr/>
        </p:nvSpPr>
        <p:spPr>
          <a:xfrm>
            <a:off x="932688" y="1709928"/>
            <a:ext cx="402336" cy="402336"/>
          </a:xfrm>
          <a:prstGeom prst="rect">
            <a:avLst/>
          </a:prstGeom>
          <a:noFill/>
          <a:ln/>
        </p:spPr>
        <p:txBody>
          <a:bodyPr wrap="square" lIns="0" tIns="0" rIns="0" bIns="0" rtlCol="0" anchor="ctr"/>
          <a:lstStyle/>
          <a:p>
            <a:pPr algn="ctr" indent="0" marL="0">
              <a:buNone/>
            </a:pPr>
            <a:r>
              <a:rPr lang="en-US" sz="1300" dirty="0">
                <a:solidFill>
                  <a:srgbClr val="A376E9"/>
                </a:solidFill>
              </a:rPr>
              <a:t>★</a:t>
            </a:r>
            <a:endParaRPr lang="en-US" sz="1300" dirty="0"/>
          </a:p>
        </p:txBody>
      </p:sp>
      <p:sp>
        <p:nvSpPr>
          <p:cNvPr id="7" name="Text 5"/>
          <p:cNvSpPr txBox="1"/>
          <p:nvPr/>
        </p:nvSpPr>
        <p:spPr>
          <a:xfrm>
            <a:off x="1508760" y="1719072"/>
            <a:ext cx="4206240" cy="548640"/>
          </a:xfrm>
          <a:prstGeom prst="rect">
            <a:avLst/>
          </a:prstGeom>
          <a:noFill/>
          <a:ln/>
        </p:spPr>
        <p:txBody>
          <a:bodyPr wrap="square" lIns="0" tIns="0" rIns="0" bIns="0" rtlCol="0" anchor="ctr"/>
          <a:lstStyle/>
          <a:p>
            <a:pPr indent="0" marL="0">
              <a:buNone/>
            </a:pPr>
            <a:r>
              <a:rPr lang="en-US" sz="1550" b="1" dirty="0">
                <a:solidFill>
                  <a:srgbClr val="EBEDF0"/>
                </a:solidFill>
                <a:latin typeface="Calibri" pitchFamily="34" charset="0"/>
                <a:ea typeface="Calibri" pitchFamily="34" charset="-122"/>
                <a:cs typeface="Calibri" pitchFamily="34" charset="-120"/>
              </a:rPr>
              <a:t>It grades its own plan</a:t>
            </a:r>
            <a:endParaRPr lang="en-US" sz="1550" dirty="0"/>
          </a:p>
        </p:txBody>
      </p:sp>
      <p:sp>
        <p:nvSpPr>
          <p:cNvPr id="8" name="Text 6"/>
          <p:cNvSpPr txBox="1"/>
          <p:nvPr/>
        </p:nvSpPr>
        <p:spPr>
          <a:xfrm>
            <a:off x="932688" y="2377440"/>
            <a:ext cx="4754880" cy="1005840"/>
          </a:xfrm>
          <a:prstGeom prst="rect">
            <a:avLst/>
          </a:prstGeom>
          <a:noFill/>
          <a:ln/>
        </p:spPr>
        <p:txBody>
          <a:bodyPr wrap="square" lIns="0" tIns="0" rIns="0" bIns="0" rtlCol="0" anchor="t"/>
          <a:lstStyle/>
          <a:p>
            <a:pPr indent="0" marL="0">
              <a:lnSpc>
                <a:spcPct val="115000"/>
              </a:lnSpc>
              <a:buNone/>
            </a:pPr>
            <a:r>
              <a:rPr lang="en-US" sz="1250" dirty="0">
                <a:solidFill>
                  <a:srgbClr val="8F949D"/>
                </a:solidFill>
                <a:latin typeface="Calibri" pitchFamily="34" charset="0"/>
                <a:ea typeface="Calibri" pitchFamily="34" charset="-122"/>
                <a:cs typeface="Calibri" pitchFamily="34" charset="-120"/>
              </a:rPr>
              <a:t>Six dimensions, scored 0–100 against what Recon actually observed. Below 75 it rejects its own plan and re-plans against the gaps it named. Live: 62 → seven gaps → 82.</a:t>
            </a:r>
            <a:endParaRPr lang="en-US" sz="1250" dirty="0"/>
          </a:p>
        </p:txBody>
      </p:sp>
      <p:sp>
        <p:nvSpPr>
          <p:cNvPr id="9" name="Shape 7"/>
          <p:cNvSpPr/>
          <p:nvPr/>
        </p:nvSpPr>
        <p:spPr>
          <a:xfrm>
            <a:off x="6263640" y="1417320"/>
            <a:ext cx="5349240" cy="2103120"/>
          </a:xfrm>
          <a:prstGeom prst="roundRect">
            <a:avLst>
              <a:gd name="adj" fmla="val 3478"/>
            </a:avLst>
          </a:prstGeom>
          <a:solidFill>
            <a:srgbClr val="16181D"/>
          </a:solidFill>
          <a:ln w="12700">
            <a:solidFill>
              <a:srgbClr val="2F3239"/>
            </a:solidFill>
            <a:prstDash val="solid"/>
          </a:ln>
        </p:spPr>
      </p:sp>
      <p:sp>
        <p:nvSpPr>
          <p:cNvPr id="10" name="Shape 8"/>
          <p:cNvSpPr/>
          <p:nvPr/>
        </p:nvSpPr>
        <p:spPr>
          <a:xfrm>
            <a:off x="6556248" y="1709928"/>
            <a:ext cx="402336" cy="402336"/>
          </a:xfrm>
          <a:prstGeom prst="ellipse">
            <a:avLst/>
          </a:prstGeom>
          <a:solidFill>
            <a:srgbClr val="F06504">
              <a:alpha val="22000"/>
            </a:srgbClr>
          </a:solidFill>
          <a:ln w="12700">
            <a:solidFill>
              <a:srgbClr val="F06504"/>
            </a:solidFill>
            <a:prstDash val="solid"/>
          </a:ln>
        </p:spPr>
      </p:sp>
      <p:sp>
        <p:nvSpPr>
          <p:cNvPr id="11" name="Text 9"/>
          <p:cNvSpPr txBox="1"/>
          <p:nvPr/>
        </p:nvSpPr>
        <p:spPr>
          <a:xfrm>
            <a:off x="6556248" y="1709928"/>
            <a:ext cx="402336" cy="402336"/>
          </a:xfrm>
          <a:prstGeom prst="rect">
            <a:avLst/>
          </a:prstGeom>
          <a:noFill/>
          <a:ln/>
        </p:spPr>
        <p:txBody>
          <a:bodyPr wrap="square" lIns="0" tIns="0" rIns="0" bIns="0" rtlCol="0" anchor="ctr"/>
          <a:lstStyle/>
          <a:p>
            <a:pPr algn="ctr" indent="0" marL="0">
              <a:buNone/>
            </a:pPr>
            <a:r>
              <a:rPr lang="en-US" sz="1300" dirty="0">
                <a:solidFill>
                  <a:srgbClr val="F06504"/>
                </a:solidFill>
              </a:rPr>
              <a:t>★</a:t>
            </a:r>
            <a:endParaRPr lang="en-US" sz="1300" dirty="0"/>
          </a:p>
        </p:txBody>
      </p:sp>
      <p:sp>
        <p:nvSpPr>
          <p:cNvPr id="12" name="Text 10"/>
          <p:cNvSpPr txBox="1"/>
          <p:nvPr/>
        </p:nvSpPr>
        <p:spPr>
          <a:xfrm>
            <a:off x="7132320" y="1719072"/>
            <a:ext cx="4206240" cy="548640"/>
          </a:xfrm>
          <a:prstGeom prst="rect">
            <a:avLst/>
          </a:prstGeom>
          <a:noFill/>
          <a:ln/>
        </p:spPr>
        <p:txBody>
          <a:bodyPr wrap="square" lIns="0" tIns="0" rIns="0" bIns="0" rtlCol="0" anchor="ctr"/>
          <a:lstStyle/>
          <a:p>
            <a:pPr indent="0" marL="0">
              <a:buNone/>
            </a:pPr>
            <a:r>
              <a:rPr lang="en-US" sz="1550" b="1" dirty="0">
                <a:solidFill>
                  <a:srgbClr val="EBEDF0"/>
                </a:solidFill>
                <a:latin typeface="Calibri" pitchFamily="34" charset="0"/>
                <a:ea typeface="Calibri" pitchFamily="34" charset="-122"/>
                <a:cs typeface="Calibri" pitchFamily="34" charset="-120"/>
              </a:rPr>
              <a:t>It will not write a selector it has not proven</a:t>
            </a:r>
            <a:endParaRPr lang="en-US" sz="1550" dirty="0"/>
          </a:p>
        </p:txBody>
      </p:sp>
      <p:sp>
        <p:nvSpPr>
          <p:cNvPr id="13" name="Text 11"/>
          <p:cNvSpPr txBox="1"/>
          <p:nvPr/>
        </p:nvSpPr>
        <p:spPr>
          <a:xfrm>
            <a:off x="6556248" y="2377440"/>
            <a:ext cx="4754880" cy="1005840"/>
          </a:xfrm>
          <a:prstGeom prst="rect">
            <a:avLst/>
          </a:prstGeom>
          <a:noFill/>
          <a:ln/>
        </p:spPr>
        <p:txBody>
          <a:bodyPr wrap="square" lIns="0" tIns="0" rIns="0" bIns="0" rtlCol="0" anchor="t"/>
          <a:lstStyle/>
          <a:p>
            <a:pPr indent="0" marL="0">
              <a:lnSpc>
                <a:spcPct val="115000"/>
              </a:lnSpc>
              <a:buNone/>
            </a:pPr>
            <a:r>
              <a:rPr lang="en-US" sz="1250" dirty="0">
                <a:solidFill>
                  <a:srgbClr val="8F949D"/>
                </a:solidFill>
                <a:latin typeface="Calibri" pitchFamily="34" charset="0"/>
                <a:ea typeface="Calibri" pitchFamily="34" charset="-122"/>
                <a:cs typeface="Calibri" pitchFamily="34" charset="-120"/>
              </a:rPr>
              <a:t>A ledger of every locator Playwright itself resolved this session, checked mechanically against the emitted file. Unprovable scenarios are quarantined with a reason.</a:t>
            </a:r>
            <a:endParaRPr lang="en-US" sz="1250" dirty="0"/>
          </a:p>
        </p:txBody>
      </p:sp>
      <p:sp>
        <p:nvSpPr>
          <p:cNvPr id="14" name="Shape 12"/>
          <p:cNvSpPr/>
          <p:nvPr/>
        </p:nvSpPr>
        <p:spPr>
          <a:xfrm>
            <a:off x="640080" y="3749040"/>
            <a:ext cx="5349240" cy="2103120"/>
          </a:xfrm>
          <a:prstGeom prst="roundRect">
            <a:avLst>
              <a:gd name="adj" fmla="val 3478"/>
            </a:avLst>
          </a:prstGeom>
          <a:solidFill>
            <a:srgbClr val="16181D"/>
          </a:solidFill>
          <a:ln w="12700">
            <a:solidFill>
              <a:srgbClr val="2F3239"/>
            </a:solidFill>
            <a:prstDash val="solid"/>
          </a:ln>
        </p:spPr>
      </p:sp>
      <p:sp>
        <p:nvSpPr>
          <p:cNvPr id="15" name="Shape 13"/>
          <p:cNvSpPr/>
          <p:nvPr/>
        </p:nvSpPr>
        <p:spPr>
          <a:xfrm>
            <a:off x="932688" y="4041648"/>
            <a:ext cx="402336" cy="402336"/>
          </a:xfrm>
          <a:prstGeom prst="ellipse">
            <a:avLst/>
          </a:prstGeom>
          <a:solidFill>
            <a:srgbClr val="FF6A6C">
              <a:alpha val="22000"/>
            </a:srgbClr>
          </a:solidFill>
          <a:ln w="12700">
            <a:solidFill>
              <a:srgbClr val="FF6A6C"/>
            </a:solidFill>
            <a:prstDash val="solid"/>
          </a:ln>
        </p:spPr>
      </p:sp>
      <p:sp>
        <p:nvSpPr>
          <p:cNvPr id="16" name="Text 14"/>
          <p:cNvSpPr txBox="1"/>
          <p:nvPr/>
        </p:nvSpPr>
        <p:spPr>
          <a:xfrm>
            <a:off x="932688" y="4041648"/>
            <a:ext cx="402336" cy="402336"/>
          </a:xfrm>
          <a:prstGeom prst="rect">
            <a:avLst/>
          </a:prstGeom>
          <a:noFill/>
          <a:ln/>
        </p:spPr>
        <p:txBody>
          <a:bodyPr wrap="square" lIns="0" tIns="0" rIns="0" bIns="0" rtlCol="0" anchor="ctr"/>
          <a:lstStyle/>
          <a:p>
            <a:pPr algn="ctr" indent="0" marL="0">
              <a:buNone/>
            </a:pPr>
            <a:r>
              <a:rPr lang="en-US" sz="1300" dirty="0">
                <a:solidFill>
                  <a:srgbClr val="FF6A6C"/>
                </a:solidFill>
              </a:rPr>
              <a:t>★</a:t>
            </a:r>
            <a:endParaRPr lang="en-US" sz="1300" dirty="0"/>
          </a:p>
        </p:txBody>
      </p:sp>
      <p:sp>
        <p:nvSpPr>
          <p:cNvPr id="17" name="Text 15"/>
          <p:cNvSpPr txBox="1"/>
          <p:nvPr/>
        </p:nvSpPr>
        <p:spPr>
          <a:xfrm>
            <a:off x="1508760" y="4050792"/>
            <a:ext cx="4206240" cy="548640"/>
          </a:xfrm>
          <a:prstGeom prst="rect">
            <a:avLst/>
          </a:prstGeom>
          <a:noFill/>
          <a:ln/>
        </p:spPr>
        <p:txBody>
          <a:bodyPr wrap="square" lIns="0" tIns="0" rIns="0" bIns="0" rtlCol="0" anchor="ctr"/>
          <a:lstStyle/>
          <a:p>
            <a:pPr indent="0" marL="0">
              <a:buNone/>
            </a:pPr>
            <a:r>
              <a:rPr lang="en-US" sz="1550" b="1" dirty="0">
                <a:solidFill>
                  <a:srgbClr val="EBEDF0"/>
                </a:solidFill>
                <a:latin typeface="Calibri" pitchFamily="34" charset="0"/>
                <a:ea typeface="Calibri" pitchFamily="34" charset="-122"/>
                <a:cs typeface="Calibri" pitchFamily="34" charset="-120"/>
              </a:rPr>
              <a:t>It knows a broken test from a broken app</a:t>
            </a:r>
            <a:endParaRPr lang="en-US" sz="1550" dirty="0"/>
          </a:p>
        </p:txBody>
      </p:sp>
      <p:sp>
        <p:nvSpPr>
          <p:cNvPr id="18" name="Text 16"/>
          <p:cNvSpPr txBox="1"/>
          <p:nvPr/>
        </p:nvSpPr>
        <p:spPr>
          <a:xfrm>
            <a:off x="932688" y="4709160"/>
            <a:ext cx="4754880" cy="1005840"/>
          </a:xfrm>
          <a:prstGeom prst="rect">
            <a:avLst/>
          </a:prstGeom>
          <a:noFill/>
          <a:ln/>
        </p:spPr>
        <p:txBody>
          <a:bodyPr wrap="square" lIns="0" tIns="0" rIns="0" bIns="0" rtlCol="0" anchor="t"/>
          <a:lstStyle/>
          <a:p>
            <a:pPr indent="0" marL="0">
              <a:lnSpc>
                <a:spcPct val="115000"/>
              </a:lnSpc>
              <a:buNone/>
            </a:pPr>
            <a:r>
              <a:rPr lang="en-US" sz="1250" dirty="0">
                <a:solidFill>
                  <a:srgbClr val="8F949D"/>
                </a:solidFill>
                <a:latin typeface="Calibri" pitchFamily="34" charset="0"/>
                <a:ea typeface="Calibri" pitchFamily="34" charset="-122"/>
                <a:cs typeface="Calibri" pitchFamily="34" charset="-120"/>
              </a:rPr>
              <a:t>A rule prior from Playwright's error text and the locator ledger, then a read-only live look — console errors, 5xx, is the control there under a new name.</a:t>
            </a:r>
            <a:endParaRPr lang="en-US" sz="1250" dirty="0"/>
          </a:p>
        </p:txBody>
      </p:sp>
      <p:sp>
        <p:nvSpPr>
          <p:cNvPr id="19" name="Shape 17"/>
          <p:cNvSpPr/>
          <p:nvPr/>
        </p:nvSpPr>
        <p:spPr>
          <a:xfrm>
            <a:off x="6263640" y="3749040"/>
            <a:ext cx="5349240" cy="2103120"/>
          </a:xfrm>
          <a:prstGeom prst="roundRect">
            <a:avLst>
              <a:gd name="adj" fmla="val 3478"/>
            </a:avLst>
          </a:prstGeom>
          <a:solidFill>
            <a:srgbClr val="16181D"/>
          </a:solidFill>
          <a:ln w="12700">
            <a:solidFill>
              <a:srgbClr val="2F3239"/>
            </a:solidFill>
            <a:prstDash val="solid"/>
          </a:ln>
        </p:spPr>
      </p:sp>
      <p:sp>
        <p:nvSpPr>
          <p:cNvPr id="20" name="Shape 18"/>
          <p:cNvSpPr/>
          <p:nvPr/>
        </p:nvSpPr>
        <p:spPr>
          <a:xfrm>
            <a:off x="6556248" y="4041648"/>
            <a:ext cx="402336" cy="402336"/>
          </a:xfrm>
          <a:prstGeom prst="ellipse">
            <a:avLst/>
          </a:prstGeom>
          <a:solidFill>
            <a:srgbClr val="5BD390">
              <a:alpha val="22000"/>
            </a:srgbClr>
          </a:solidFill>
          <a:ln w="12700">
            <a:solidFill>
              <a:srgbClr val="5BD390"/>
            </a:solidFill>
            <a:prstDash val="solid"/>
          </a:ln>
        </p:spPr>
      </p:sp>
      <p:sp>
        <p:nvSpPr>
          <p:cNvPr id="21" name="Text 19"/>
          <p:cNvSpPr txBox="1"/>
          <p:nvPr/>
        </p:nvSpPr>
        <p:spPr>
          <a:xfrm>
            <a:off x="6556248" y="4041648"/>
            <a:ext cx="402336" cy="402336"/>
          </a:xfrm>
          <a:prstGeom prst="rect">
            <a:avLst/>
          </a:prstGeom>
          <a:noFill/>
          <a:ln/>
        </p:spPr>
        <p:txBody>
          <a:bodyPr wrap="square" lIns="0" tIns="0" rIns="0" bIns="0" rtlCol="0" anchor="ctr"/>
          <a:lstStyle/>
          <a:p>
            <a:pPr algn="ctr" indent="0" marL="0">
              <a:buNone/>
            </a:pPr>
            <a:r>
              <a:rPr lang="en-US" sz="1300" dirty="0">
                <a:solidFill>
                  <a:srgbClr val="5BD390"/>
                </a:solidFill>
              </a:rPr>
              <a:t>★</a:t>
            </a:r>
            <a:endParaRPr lang="en-US" sz="1300" dirty="0"/>
          </a:p>
        </p:txBody>
      </p:sp>
      <p:sp>
        <p:nvSpPr>
          <p:cNvPr id="22" name="Text 20"/>
          <p:cNvSpPr txBox="1"/>
          <p:nvPr/>
        </p:nvSpPr>
        <p:spPr>
          <a:xfrm>
            <a:off x="7132320" y="4050792"/>
            <a:ext cx="4206240" cy="548640"/>
          </a:xfrm>
          <a:prstGeom prst="rect">
            <a:avLst/>
          </a:prstGeom>
          <a:noFill/>
          <a:ln/>
        </p:spPr>
        <p:txBody>
          <a:bodyPr wrap="square" lIns="0" tIns="0" rIns="0" bIns="0" rtlCol="0" anchor="ctr"/>
          <a:lstStyle/>
          <a:p>
            <a:pPr indent="0" marL="0">
              <a:buNone/>
            </a:pPr>
            <a:r>
              <a:rPr lang="en-US" sz="1550" b="1" dirty="0">
                <a:solidFill>
                  <a:srgbClr val="EBEDF0"/>
                </a:solidFill>
                <a:latin typeface="Calibri" pitchFamily="34" charset="0"/>
                <a:ea typeface="Calibri" pitchFamily="34" charset="-122"/>
                <a:cs typeface="Calibri" pitchFamily="34" charset="-120"/>
              </a:rPr>
              <a:t>The Healer is not allowed to cheat</a:t>
            </a:r>
            <a:endParaRPr lang="en-US" sz="1550" dirty="0"/>
          </a:p>
        </p:txBody>
      </p:sp>
      <p:sp>
        <p:nvSpPr>
          <p:cNvPr id="23" name="Text 21"/>
          <p:cNvSpPr txBox="1"/>
          <p:nvPr/>
        </p:nvSpPr>
        <p:spPr>
          <a:xfrm>
            <a:off x="6556248" y="4709160"/>
            <a:ext cx="4754880" cy="1005840"/>
          </a:xfrm>
          <a:prstGeom prst="rect">
            <a:avLst/>
          </a:prstGeom>
          <a:noFill/>
          <a:ln/>
        </p:spPr>
        <p:txBody>
          <a:bodyPr wrap="square" lIns="0" tIns="0" rIns="0" bIns="0" rtlCol="0" anchor="t"/>
          <a:lstStyle/>
          <a:p>
            <a:pPr indent="0" marL="0">
              <a:lnSpc>
                <a:spcPct val="115000"/>
              </a:lnSpc>
              <a:buNone/>
            </a:pPr>
            <a:r>
              <a:rPr lang="en-US" sz="1250" dirty="0">
                <a:solidFill>
                  <a:srgbClr val="8F949D"/>
                </a:solidFill>
                <a:latin typeface="Calibri" pitchFamily="34" charset="0"/>
                <a:ea typeface="Calibri" pitchFamily="34" charset="-122"/>
                <a:cs typeface="Calibri" pitchFamily="34" charset="-120"/>
              </a:rPr>
              <a:t>The assertion set is diffed before and after every patch. Delete, weaken, negate or re-value one and the patch is rejected and the test escalates.</a:t>
            </a:r>
            <a:endParaRPr lang="en-US" sz="1250" dirty="0"/>
          </a:p>
        </p:txBody>
      </p:sp>
      <p:sp>
        <p:nvSpPr>
          <p:cNvPr id="24" name="Text 22"/>
          <p:cNvSpPr txBox="1"/>
          <p:nvPr/>
        </p:nvSpPr>
        <p:spPr>
          <a:xfrm>
            <a:off x="640080" y="6172200"/>
            <a:ext cx="10881360" cy="365760"/>
          </a:xfrm>
          <a:prstGeom prst="rect">
            <a:avLst/>
          </a:prstGeom>
          <a:noFill/>
          <a:ln/>
        </p:spPr>
        <p:txBody>
          <a:bodyPr wrap="square" lIns="0" tIns="0" rIns="0" bIns="0" rtlCol="0" anchor="t"/>
          <a:lstStyle/>
          <a:p>
            <a:pPr indent="0" marL="0">
              <a:lnSpc>
                <a:spcPct val="115000"/>
              </a:lnSpc>
              <a:buNone/>
            </a:pPr>
            <a:r>
              <a:rPr lang="en-US" sz="1400" i="1" dirty="0">
                <a:solidFill>
                  <a:srgbClr val="FD8F37"/>
                </a:solidFill>
                <a:latin typeface="Calibri" pitchFamily="34" charset="0"/>
                <a:ea typeface="Calibri" pitchFamily="34" charset="-122"/>
                <a:cs typeface="Calibri" pitchFamily="34" charset="-120"/>
              </a:rPr>
              <a:t>All four are mechanical checks rather than instructions to a model — and each has already overruled the model in a live run.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0A0E"/>
        </a:solidFill>
      </p:bgPr>
    </p:bg>
    <p:spTree>
      <p:nvGrpSpPr>
        <p:cNvPr id="1" name=""/>
        <p:cNvGrpSpPr/>
        <p:nvPr/>
      </p:nvGrpSpPr>
      <p:grpSpPr>
        <a:xfrm>
          <a:off x="0" y="0"/>
          <a:ext cx="0" cy="0"/>
          <a:chOff x="0" y="0"/>
          <a:chExt cx="0" cy="0"/>
        </a:xfrm>
      </p:grpSpPr>
      <p:sp>
        <p:nvSpPr>
          <p:cNvPr id="2" name="Text 0"/>
          <p:cNvSpPr txBox="1"/>
          <p:nvPr/>
        </p:nvSpPr>
        <p:spPr>
          <a:xfrm>
            <a:off x="640080" y="274320"/>
            <a:ext cx="10881360" cy="228600"/>
          </a:xfrm>
          <a:prstGeom prst="rect">
            <a:avLst/>
          </a:prstGeom>
          <a:noFill/>
          <a:ln/>
        </p:spPr>
        <p:txBody>
          <a:bodyPr wrap="square" lIns="0" tIns="0" rIns="0" bIns="0" rtlCol="0" anchor="ctr"/>
          <a:lstStyle/>
          <a:p>
            <a:pPr indent="0" marL="0">
              <a:buNone/>
            </a:pPr>
            <a:r>
              <a:rPr lang="en-US" sz="1100" b="1" spc="200" kern="0" dirty="0">
                <a:solidFill>
                  <a:srgbClr val="F06504"/>
                </a:solidFill>
                <a:latin typeface="Calibri" pitchFamily="34" charset="0"/>
                <a:ea typeface="Calibri" pitchFamily="34" charset="-122"/>
                <a:cs typeface="Calibri" pitchFamily="34" charset="-120"/>
              </a:rPr>
              <a:t>THE DEMO</a:t>
            </a:r>
            <a:endParaRPr lang="en-US" sz="1100" dirty="0"/>
          </a:p>
        </p:txBody>
      </p:sp>
      <p:sp>
        <p:nvSpPr>
          <p:cNvPr id="3" name="Text 1"/>
          <p:cNvSpPr txBox="1"/>
          <p:nvPr/>
        </p:nvSpPr>
        <p:spPr>
          <a:xfrm>
            <a:off x="640080" y="502920"/>
            <a:ext cx="10881360" cy="868680"/>
          </a:xfrm>
          <a:prstGeom prst="rect">
            <a:avLst/>
          </a:prstGeom>
          <a:noFill/>
          <a:ln/>
        </p:spPr>
        <p:txBody>
          <a:bodyPr wrap="square" lIns="0" tIns="0" rIns="0" bIns="0" rtlCol="0" anchor="ctr"/>
          <a:lstStyle/>
          <a:p>
            <a:pPr algn="l" indent="0" marL="0">
              <a:buNone/>
            </a:pPr>
            <a:r>
              <a:rPr lang="en-US" sz="3400" b="1" dirty="0">
                <a:solidFill>
                  <a:srgbClr val="EBEDF0"/>
                </a:solidFill>
                <a:latin typeface="Cambria" pitchFamily="34" charset="0"/>
                <a:ea typeface="Cambria" pitchFamily="34" charset="-122"/>
                <a:cs typeface="Cambria" pitchFamily="34" charset="-120"/>
              </a:rPr>
              <a:t>Break the app while it is watching</a:t>
            </a:r>
            <a:endParaRPr lang="en-US" sz="3400" dirty="0"/>
          </a:p>
        </p:txBody>
      </p:sp>
      <p:sp>
        <p:nvSpPr>
          <p:cNvPr id="4" name="Text 2"/>
          <p:cNvSpPr txBox="1"/>
          <p:nvPr/>
        </p:nvSpPr>
        <p:spPr>
          <a:xfrm>
            <a:off x="640080" y="1463040"/>
            <a:ext cx="10881360" cy="731520"/>
          </a:xfrm>
          <a:prstGeom prst="rect">
            <a:avLst/>
          </a:prstGeom>
          <a:noFill/>
          <a:ln/>
        </p:spPr>
        <p:txBody>
          <a:bodyPr wrap="square" lIns="0" tIns="0" rIns="0" bIns="0" rtlCol="0" anchor="t"/>
          <a:lstStyle/>
          <a:p>
            <a:pPr indent="0" marL="0">
              <a:lnSpc>
                <a:spcPct val="115000"/>
              </a:lnSpc>
              <a:buNone/>
            </a:pPr>
            <a:r>
              <a:rPr lang="en-US" sz="1500" dirty="0">
                <a:solidFill>
                  <a:srgbClr val="B2B6BE"/>
                </a:solidFill>
                <a:latin typeface="Calibri" pitchFamily="34" charset="0"/>
                <a:ea typeface="Calibri" pitchFamily="34" charset="-122"/>
                <a:cs typeface="Calibri" pitchFamily="34" charset="-120"/>
              </a:rPr>
              <a:t>ShopLite ships with the repo and has two switches. Flip one between GENERATE and EXECUTE, tell the pipeline nothing, and watch what it decides. It is the only honest way to test a classifier.</a:t>
            </a:r>
            <a:endParaRPr lang="en-US" sz="1500" dirty="0"/>
          </a:p>
        </p:txBody>
      </p:sp>
      <p:sp>
        <p:nvSpPr>
          <p:cNvPr id="5" name="Text 3"/>
          <p:cNvSpPr txBox="1"/>
          <p:nvPr/>
        </p:nvSpPr>
        <p:spPr>
          <a:xfrm>
            <a:off x="960120" y="2423160"/>
            <a:ext cx="3108960" cy="228600"/>
          </a:xfrm>
          <a:prstGeom prst="rect">
            <a:avLst/>
          </a:prstGeom>
          <a:noFill/>
          <a:ln/>
        </p:spPr>
        <p:txBody>
          <a:bodyPr wrap="square" lIns="0" tIns="0" rIns="0" bIns="0" rtlCol="0" anchor="ctr"/>
          <a:lstStyle/>
          <a:p>
            <a:pPr indent="0" marL="0">
              <a:buNone/>
            </a:pPr>
            <a:r>
              <a:rPr lang="en-US" sz="1000" b="1" spc="150" kern="0" dirty="0">
                <a:solidFill>
                  <a:srgbClr val="8F949D"/>
                </a:solidFill>
                <a:latin typeface="Calibri" pitchFamily="34" charset="0"/>
                <a:ea typeface="Calibri" pitchFamily="34" charset="-122"/>
                <a:cs typeface="Calibri" pitchFamily="34" charset="-120"/>
              </a:rPr>
              <a:t>THE SWITCH</a:t>
            </a:r>
            <a:endParaRPr lang="en-US" sz="1000" dirty="0"/>
          </a:p>
        </p:txBody>
      </p:sp>
      <p:sp>
        <p:nvSpPr>
          <p:cNvPr id="6" name="Text 4"/>
          <p:cNvSpPr txBox="1"/>
          <p:nvPr/>
        </p:nvSpPr>
        <p:spPr>
          <a:xfrm>
            <a:off x="5212080" y="2423160"/>
            <a:ext cx="3108960" cy="228600"/>
          </a:xfrm>
          <a:prstGeom prst="rect">
            <a:avLst/>
          </a:prstGeom>
          <a:noFill/>
          <a:ln/>
        </p:spPr>
        <p:txBody>
          <a:bodyPr wrap="square" lIns="0" tIns="0" rIns="0" bIns="0" rtlCol="0" anchor="ctr"/>
          <a:lstStyle/>
          <a:p>
            <a:pPr indent="0" marL="0">
              <a:buNone/>
            </a:pPr>
            <a:r>
              <a:rPr lang="en-US" sz="1000" b="1" spc="150" kern="0" dirty="0">
                <a:solidFill>
                  <a:srgbClr val="8F949D"/>
                </a:solidFill>
                <a:latin typeface="Calibri" pitchFamily="34" charset="0"/>
                <a:ea typeface="Calibri" pitchFamily="34" charset="-122"/>
                <a:cs typeface="Calibri" pitchFamily="34" charset="-120"/>
              </a:rPr>
              <a:t>THE VERDICT, UNPROMPTED</a:t>
            </a:r>
            <a:endParaRPr lang="en-US" sz="1000" dirty="0"/>
          </a:p>
        </p:txBody>
      </p:sp>
      <p:sp>
        <p:nvSpPr>
          <p:cNvPr id="7" name="Text 5"/>
          <p:cNvSpPr txBox="1"/>
          <p:nvPr/>
        </p:nvSpPr>
        <p:spPr>
          <a:xfrm>
            <a:off x="8046720" y="2423160"/>
            <a:ext cx="3108960" cy="228600"/>
          </a:xfrm>
          <a:prstGeom prst="rect">
            <a:avLst/>
          </a:prstGeom>
          <a:noFill/>
          <a:ln/>
        </p:spPr>
        <p:txBody>
          <a:bodyPr wrap="square" lIns="0" tIns="0" rIns="0" bIns="0" rtlCol="0" anchor="ctr"/>
          <a:lstStyle/>
          <a:p>
            <a:pPr indent="0" marL="0">
              <a:buNone/>
            </a:pPr>
            <a:r>
              <a:rPr lang="en-US" sz="1000" b="1" spc="150" kern="0" dirty="0">
                <a:solidFill>
                  <a:srgbClr val="8F949D"/>
                </a:solidFill>
                <a:latin typeface="Calibri" pitchFamily="34" charset="0"/>
                <a:ea typeface="Calibri" pitchFamily="34" charset="-122"/>
                <a:cs typeface="Calibri" pitchFamily="34" charset="-120"/>
              </a:rPr>
              <a:t>WHAT THE ORCHESTRATOR DOES</a:t>
            </a:r>
            <a:endParaRPr lang="en-US" sz="1000" dirty="0"/>
          </a:p>
        </p:txBody>
      </p:sp>
      <p:sp>
        <p:nvSpPr>
          <p:cNvPr id="8" name="Shape 6"/>
          <p:cNvSpPr/>
          <p:nvPr/>
        </p:nvSpPr>
        <p:spPr>
          <a:xfrm>
            <a:off x="640080" y="2788920"/>
            <a:ext cx="10881360" cy="1325880"/>
          </a:xfrm>
          <a:prstGeom prst="roundRect">
            <a:avLst>
              <a:gd name="adj" fmla="val 5517"/>
            </a:avLst>
          </a:prstGeom>
          <a:solidFill>
            <a:srgbClr val="16181D"/>
          </a:solidFill>
          <a:ln w="12700">
            <a:solidFill>
              <a:srgbClr val="5BD390"/>
            </a:solidFill>
            <a:prstDash val="solid"/>
          </a:ln>
        </p:spPr>
      </p:sp>
      <p:sp>
        <p:nvSpPr>
          <p:cNvPr id="9" name="Text 7"/>
          <p:cNvSpPr txBox="1"/>
          <p:nvPr/>
        </p:nvSpPr>
        <p:spPr>
          <a:xfrm>
            <a:off x="960120" y="2990088"/>
            <a:ext cx="3931920" cy="292608"/>
          </a:xfrm>
          <a:prstGeom prst="rect">
            <a:avLst/>
          </a:prstGeom>
          <a:noFill/>
          <a:ln/>
        </p:spPr>
        <p:txBody>
          <a:bodyPr wrap="square" lIns="0" tIns="0" rIns="0" bIns="0" rtlCol="0" anchor="ctr"/>
          <a:lstStyle/>
          <a:p>
            <a:pPr indent="0" marL="0">
              <a:buNone/>
            </a:pPr>
            <a:r>
              <a:rPr lang="en-US" sz="1500" b="1" dirty="0">
                <a:solidFill>
                  <a:srgbClr val="EBEDF0"/>
                </a:solidFill>
                <a:latin typeface="Calibri" pitchFamily="34" charset="0"/>
                <a:ea typeface="Calibri" pitchFamily="34" charset="-122"/>
                <a:cs typeface="Calibri" pitchFamily="34" charset="-120"/>
              </a:rPr>
              <a:t>Rename "Basket" to "Bag"</a:t>
            </a:r>
            <a:endParaRPr lang="en-US" sz="1500" dirty="0"/>
          </a:p>
        </p:txBody>
      </p:sp>
      <p:sp>
        <p:nvSpPr>
          <p:cNvPr id="10" name="Text 8"/>
          <p:cNvSpPr txBox="1"/>
          <p:nvPr/>
        </p:nvSpPr>
        <p:spPr>
          <a:xfrm>
            <a:off x="960120" y="3355848"/>
            <a:ext cx="3931920" cy="822960"/>
          </a:xfrm>
          <a:prstGeom prst="rect">
            <a:avLst/>
          </a:prstGeom>
          <a:noFill/>
          <a:ln/>
        </p:spPr>
        <p:txBody>
          <a:bodyPr wrap="square" lIns="0" tIns="0" rIns="0" bIns="0" rtlCol="0" anchor="t"/>
          <a:lstStyle/>
          <a:p>
            <a:pPr indent="0" marL="0">
              <a:lnSpc>
                <a:spcPct val="115000"/>
              </a:lnSpc>
              <a:buNone/>
            </a:pPr>
            <a:r>
              <a:rPr lang="en-US" sz="1250" dirty="0">
                <a:solidFill>
                  <a:srgbClr val="8F949D"/>
                </a:solidFill>
                <a:latin typeface="Calibri" pitchFamily="34" charset="0"/>
                <a:ea typeface="Calibri" pitchFamily="34" charset="-122"/>
                <a:cs typeface="Calibri" pitchFamily="34" charset="-120"/>
              </a:rPr>
              <a:t>The control is renamed. The application is perfectly healthy.</a:t>
            </a:r>
            <a:endParaRPr lang="en-US" sz="1250" dirty="0"/>
          </a:p>
        </p:txBody>
      </p:sp>
      <p:sp>
        <p:nvSpPr>
          <p:cNvPr id="11" name="Text 9"/>
          <p:cNvSpPr txBox="1"/>
          <p:nvPr/>
        </p:nvSpPr>
        <p:spPr>
          <a:xfrm>
            <a:off x="5212080" y="3044952"/>
            <a:ext cx="2651760" cy="320040"/>
          </a:xfrm>
          <a:prstGeom prst="rect">
            <a:avLst/>
          </a:prstGeom>
          <a:noFill/>
          <a:ln/>
        </p:spPr>
        <p:txBody>
          <a:bodyPr wrap="square" lIns="0" tIns="0" rIns="0" bIns="0" rtlCol="0" anchor="ctr"/>
          <a:lstStyle/>
          <a:p>
            <a:pPr indent="0" marL="0">
              <a:buNone/>
            </a:pPr>
            <a:r>
              <a:rPr lang="en-US" sz="1400" b="1" dirty="0">
                <a:solidFill>
                  <a:srgbClr val="5BD390"/>
                </a:solidFill>
                <a:latin typeface="Courier New" pitchFamily="34" charset="0"/>
                <a:ea typeface="Courier New" pitchFamily="34" charset="-122"/>
                <a:cs typeface="Courier New" pitchFamily="34" charset="-120"/>
              </a:rPr>
              <a:t>SCRIPT_DRIFT</a:t>
            </a:r>
            <a:endParaRPr lang="en-US" sz="1400" dirty="0"/>
          </a:p>
        </p:txBody>
      </p:sp>
      <p:sp>
        <p:nvSpPr>
          <p:cNvPr id="12" name="Text 10"/>
          <p:cNvSpPr txBox="1"/>
          <p:nvPr/>
        </p:nvSpPr>
        <p:spPr>
          <a:xfrm>
            <a:off x="8046720" y="3063240"/>
            <a:ext cx="3108960" cy="914400"/>
          </a:xfrm>
          <a:prstGeom prst="rect">
            <a:avLst/>
          </a:prstGeom>
          <a:noFill/>
          <a:ln/>
        </p:spPr>
        <p:txBody>
          <a:bodyPr wrap="square" lIns="0" tIns="0" rIns="0" bIns="0" rtlCol="0" anchor="t"/>
          <a:lstStyle/>
          <a:p>
            <a:pPr indent="0" marL="0">
              <a:lnSpc>
                <a:spcPct val="115000"/>
              </a:lnSpc>
              <a:buNone/>
            </a:pPr>
            <a:r>
              <a:rPr lang="en-US" sz="1300" dirty="0">
                <a:solidFill>
                  <a:srgbClr val="D1D4D9"/>
                </a:solidFill>
                <a:latin typeface="Calibri" pitchFamily="34" charset="0"/>
                <a:ea typeface="Calibri" pitchFamily="34" charset="-122"/>
                <a:cs typeface="Calibri" pitchFamily="34" charset="-120"/>
              </a:rPr>
              <a:t>Re-prove the control, patch the test, re-run it green.</a:t>
            </a:r>
            <a:endParaRPr lang="en-US" sz="1300" dirty="0"/>
          </a:p>
        </p:txBody>
      </p:sp>
      <p:sp>
        <p:nvSpPr>
          <p:cNvPr id="13" name="Shape 11"/>
          <p:cNvSpPr/>
          <p:nvPr/>
        </p:nvSpPr>
        <p:spPr>
          <a:xfrm>
            <a:off x="640080" y="4297680"/>
            <a:ext cx="10881360" cy="1325880"/>
          </a:xfrm>
          <a:prstGeom prst="roundRect">
            <a:avLst>
              <a:gd name="adj" fmla="val 5517"/>
            </a:avLst>
          </a:prstGeom>
          <a:solidFill>
            <a:srgbClr val="16181D"/>
          </a:solidFill>
          <a:ln w="12700">
            <a:solidFill>
              <a:srgbClr val="FF6A6C"/>
            </a:solidFill>
            <a:prstDash val="solid"/>
          </a:ln>
        </p:spPr>
      </p:sp>
      <p:sp>
        <p:nvSpPr>
          <p:cNvPr id="14" name="Text 12"/>
          <p:cNvSpPr txBox="1"/>
          <p:nvPr/>
        </p:nvSpPr>
        <p:spPr>
          <a:xfrm>
            <a:off x="960120" y="4498848"/>
            <a:ext cx="3931920" cy="292608"/>
          </a:xfrm>
          <a:prstGeom prst="rect">
            <a:avLst/>
          </a:prstGeom>
          <a:noFill/>
          <a:ln/>
        </p:spPr>
        <p:txBody>
          <a:bodyPr wrap="square" lIns="0" tIns="0" rIns="0" bIns="0" rtlCol="0" anchor="ctr"/>
          <a:lstStyle/>
          <a:p>
            <a:pPr indent="0" marL="0">
              <a:buNone/>
            </a:pPr>
            <a:r>
              <a:rPr lang="en-US" sz="1500" b="1" dirty="0">
                <a:solidFill>
                  <a:srgbClr val="EBEDF0"/>
                </a:solidFill>
                <a:latin typeface="Calibri" pitchFamily="34" charset="0"/>
                <a:ea typeface="Calibri" pitchFamily="34" charset="-122"/>
                <a:cs typeface="Calibri" pitchFamily="34" charset="-120"/>
              </a:rPr>
              <a:t>Break order history</a:t>
            </a:r>
            <a:endParaRPr lang="en-US" sz="1500" dirty="0"/>
          </a:p>
        </p:txBody>
      </p:sp>
      <p:sp>
        <p:nvSpPr>
          <p:cNvPr id="15" name="Text 13"/>
          <p:cNvSpPr txBox="1"/>
          <p:nvPr/>
        </p:nvSpPr>
        <p:spPr>
          <a:xfrm>
            <a:off x="960120" y="4864608"/>
            <a:ext cx="3931920" cy="822960"/>
          </a:xfrm>
          <a:prstGeom prst="rect">
            <a:avLst/>
          </a:prstGeom>
          <a:noFill/>
          <a:ln/>
        </p:spPr>
        <p:txBody>
          <a:bodyPr wrap="square" lIns="0" tIns="0" rIns="0" bIns="0" rtlCol="0" anchor="t"/>
          <a:lstStyle/>
          <a:p>
            <a:pPr indent="0" marL="0">
              <a:lnSpc>
                <a:spcPct val="115000"/>
              </a:lnSpc>
              <a:buNone/>
            </a:pPr>
            <a:r>
              <a:rPr lang="en-US" sz="1250" dirty="0">
                <a:solidFill>
                  <a:srgbClr val="8F949D"/>
                </a:solidFill>
                <a:latin typeface="Calibri" pitchFamily="34" charset="0"/>
                <a:ea typeface="Calibri" pitchFamily="34" charset="-122"/>
                <a:cs typeface="Calibri" pitchFamily="34" charset="-120"/>
              </a:rPr>
              <a:t>GET /api/shoplite/orders returns 500. The order still saves.</a:t>
            </a:r>
            <a:endParaRPr lang="en-US" sz="1250" dirty="0"/>
          </a:p>
        </p:txBody>
      </p:sp>
      <p:sp>
        <p:nvSpPr>
          <p:cNvPr id="16" name="Text 14"/>
          <p:cNvSpPr txBox="1"/>
          <p:nvPr/>
        </p:nvSpPr>
        <p:spPr>
          <a:xfrm>
            <a:off x="5212080" y="4553712"/>
            <a:ext cx="2651760" cy="320040"/>
          </a:xfrm>
          <a:prstGeom prst="rect">
            <a:avLst/>
          </a:prstGeom>
          <a:noFill/>
          <a:ln/>
        </p:spPr>
        <p:txBody>
          <a:bodyPr wrap="square" lIns="0" tIns="0" rIns="0" bIns="0" rtlCol="0" anchor="ctr"/>
          <a:lstStyle/>
          <a:p>
            <a:pPr indent="0" marL="0">
              <a:buNone/>
            </a:pPr>
            <a:r>
              <a:rPr lang="en-US" sz="1400" b="1" dirty="0">
                <a:solidFill>
                  <a:srgbClr val="FF6A6C"/>
                </a:solidFill>
                <a:latin typeface="Courier New" pitchFamily="34" charset="0"/>
                <a:ea typeface="Courier New" pitchFamily="34" charset="-122"/>
                <a:cs typeface="Courier New" pitchFamily="34" charset="-120"/>
              </a:rPr>
              <a:t>APP_DEFECT  0.94</a:t>
            </a:r>
            <a:endParaRPr lang="en-US" sz="1400" dirty="0"/>
          </a:p>
        </p:txBody>
      </p:sp>
      <p:sp>
        <p:nvSpPr>
          <p:cNvPr id="17" name="Text 15"/>
          <p:cNvSpPr txBox="1"/>
          <p:nvPr/>
        </p:nvSpPr>
        <p:spPr>
          <a:xfrm>
            <a:off x="8046720" y="4572000"/>
            <a:ext cx="3108960" cy="914400"/>
          </a:xfrm>
          <a:prstGeom prst="rect">
            <a:avLst/>
          </a:prstGeom>
          <a:noFill/>
          <a:ln/>
        </p:spPr>
        <p:txBody>
          <a:bodyPr wrap="square" lIns="0" tIns="0" rIns="0" bIns="0" rtlCol="0" anchor="t"/>
          <a:lstStyle/>
          <a:p>
            <a:pPr indent="0" marL="0">
              <a:lnSpc>
                <a:spcPct val="115000"/>
              </a:lnSpc>
              <a:buNone/>
            </a:pPr>
            <a:r>
              <a:rPr lang="en-US" sz="1300" dirty="0">
                <a:solidFill>
                  <a:srgbClr val="D1D4D9"/>
                </a:solidFill>
                <a:latin typeface="Calibri" pitchFamily="34" charset="0"/>
                <a:ea typeface="Calibri" pitchFamily="34" charset="-122"/>
                <a:cs typeface="Calibri" pitchFamily="34" charset="-120"/>
              </a:rPr>
              <a:t>File the bug. Withhold the Healer. The test stays red.</a:t>
            </a:r>
            <a:endParaRPr lang="en-US" sz="1300" dirty="0"/>
          </a:p>
        </p:txBody>
      </p:sp>
      <p:sp>
        <p:nvSpPr>
          <p:cNvPr id="18" name="Text 16"/>
          <p:cNvSpPr txBox="1"/>
          <p:nvPr/>
        </p:nvSpPr>
        <p:spPr>
          <a:xfrm>
            <a:off x="640080" y="5989320"/>
            <a:ext cx="10881360" cy="365760"/>
          </a:xfrm>
          <a:prstGeom prst="rect">
            <a:avLst/>
          </a:prstGeom>
          <a:noFill/>
          <a:ln/>
        </p:spPr>
        <p:txBody>
          <a:bodyPr wrap="square" lIns="0" tIns="0" rIns="0" bIns="0" rtlCol="0" anchor="t"/>
          <a:lstStyle/>
          <a:p>
            <a:pPr indent="0" marL="0">
              <a:lnSpc>
                <a:spcPct val="115000"/>
              </a:lnSpc>
              <a:buNone/>
            </a:pPr>
            <a:r>
              <a:rPr lang="en-US" sz="1400" i="1" dirty="0">
                <a:solidFill>
                  <a:srgbClr val="FD8F37"/>
                </a:solidFill>
                <a:latin typeface="Calibri" pitchFamily="34" charset="0"/>
                <a:ea typeface="Calibri" pitchFamily="34" charset="-122"/>
                <a:cs typeface="Calibri" pitchFamily="34" charset="-120"/>
              </a:rPr>
              <a:t>A tool that heals everything it can heal papers over the second one and deletes the finding.</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90A0E"/>
        </a:solidFill>
      </p:bgPr>
    </p:bg>
    <p:spTree>
      <p:nvGrpSpPr>
        <p:cNvPr id="1" name=""/>
        <p:cNvGrpSpPr/>
        <p:nvPr/>
      </p:nvGrpSpPr>
      <p:grpSpPr>
        <a:xfrm>
          <a:off x="0" y="0"/>
          <a:ext cx="0" cy="0"/>
          <a:chOff x="0" y="0"/>
          <a:chExt cx="0" cy="0"/>
        </a:xfrm>
      </p:grpSpPr>
      <p:sp>
        <p:nvSpPr>
          <p:cNvPr id="2" name="Text 0"/>
          <p:cNvSpPr txBox="1"/>
          <p:nvPr/>
        </p:nvSpPr>
        <p:spPr>
          <a:xfrm>
            <a:off x="640080" y="274320"/>
            <a:ext cx="10881360" cy="228600"/>
          </a:xfrm>
          <a:prstGeom prst="rect">
            <a:avLst/>
          </a:prstGeom>
          <a:noFill/>
          <a:ln/>
        </p:spPr>
        <p:txBody>
          <a:bodyPr wrap="square" lIns="0" tIns="0" rIns="0" bIns="0" rtlCol="0" anchor="ctr"/>
          <a:lstStyle/>
          <a:p>
            <a:pPr indent="0" marL="0">
              <a:buNone/>
            </a:pPr>
            <a:r>
              <a:rPr lang="en-US" sz="1100" b="1" spc="200" kern="0" dirty="0">
                <a:solidFill>
                  <a:srgbClr val="F06504"/>
                </a:solidFill>
                <a:latin typeface="Calibri" pitchFamily="34" charset="0"/>
                <a:ea typeface="Calibri" pitchFamily="34" charset="-122"/>
                <a:cs typeface="Calibri" pitchFamily="34" charset="-120"/>
              </a:rPr>
              <a:t>WHAT MAKES THE REPORT TRUSTWORTHY</a:t>
            </a:r>
            <a:endParaRPr lang="en-US" sz="1100" dirty="0"/>
          </a:p>
        </p:txBody>
      </p:sp>
      <p:sp>
        <p:nvSpPr>
          <p:cNvPr id="3" name="Text 1"/>
          <p:cNvSpPr txBox="1"/>
          <p:nvPr/>
        </p:nvSpPr>
        <p:spPr>
          <a:xfrm>
            <a:off x="640080" y="502920"/>
            <a:ext cx="10881360" cy="868680"/>
          </a:xfrm>
          <a:prstGeom prst="rect">
            <a:avLst/>
          </a:prstGeom>
          <a:noFill/>
          <a:ln/>
        </p:spPr>
        <p:txBody>
          <a:bodyPr wrap="square" lIns="0" tIns="0" rIns="0" bIns="0" rtlCol="0" anchor="ctr"/>
          <a:lstStyle/>
          <a:p>
            <a:pPr algn="l" indent="0" marL="0">
              <a:buNone/>
            </a:pPr>
            <a:r>
              <a:rPr lang="en-US" sz="3400" b="1" dirty="0">
                <a:solidFill>
                  <a:srgbClr val="EBEDF0"/>
                </a:solidFill>
                <a:latin typeface="Cambria" pitchFamily="34" charset="0"/>
                <a:ea typeface="Cambria" pitchFamily="34" charset="-122"/>
                <a:cs typeface="Cambria" pitchFamily="34" charset="-120"/>
              </a:rPr>
              <a:t>Measured, not asserted</a:t>
            </a:r>
            <a:endParaRPr lang="en-US" sz="3400" dirty="0"/>
          </a:p>
        </p:txBody>
      </p:sp>
      <p:sp>
        <p:nvSpPr>
          <p:cNvPr id="4" name="Text 2"/>
          <p:cNvSpPr txBox="1"/>
          <p:nvPr/>
        </p:nvSpPr>
        <p:spPr>
          <a:xfrm>
            <a:off x="640080" y="1325880"/>
            <a:ext cx="10881360" cy="731520"/>
          </a:xfrm>
          <a:prstGeom prst="rect">
            <a:avLst/>
          </a:prstGeom>
          <a:noFill/>
          <a:ln/>
        </p:spPr>
        <p:txBody>
          <a:bodyPr wrap="square" lIns="0" tIns="0" rIns="0" bIns="0" rtlCol="0" anchor="t"/>
          <a:lstStyle/>
          <a:p>
            <a:pPr indent="0" marL="0">
              <a:lnSpc>
                <a:spcPct val="115000"/>
              </a:lnSpc>
              <a:buNone/>
            </a:pPr>
            <a:r>
              <a:rPr lang="en-US" sz="1500" dirty="0">
                <a:solidFill>
                  <a:srgbClr val="B2B6BE"/>
                </a:solidFill>
                <a:latin typeface="Calibri" pitchFamily="34" charset="0"/>
                <a:ea typeface="Calibri" pitchFamily="34" charset="-122"/>
                <a:cs typeface="Calibri" pitchFamily="34" charset="-120"/>
              </a:rPr>
              <a:t>A route counts as exercised when a test that actually ran contains that path. The report prints which signal made each attribution, so a weak claim looks weak — and that produces a third state between covered and uncovered.</a:t>
            </a:r>
            <a:endParaRPr lang="en-US" sz="1500" dirty="0"/>
          </a:p>
        </p:txBody>
      </p:sp>
      <p:sp>
        <p:nvSpPr>
          <p:cNvPr id="5" name="Shape 3"/>
          <p:cNvSpPr/>
          <p:nvPr/>
        </p:nvSpPr>
        <p:spPr>
          <a:xfrm>
            <a:off x="640080" y="2240280"/>
            <a:ext cx="2560320" cy="960120"/>
          </a:xfrm>
          <a:prstGeom prst="roundRect">
            <a:avLst>
              <a:gd name="adj" fmla="val 7619"/>
            </a:avLst>
          </a:prstGeom>
          <a:solidFill>
            <a:srgbClr val="16181D"/>
          </a:solidFill>
          <a:ln w="12700">
            <a:solidFill>
              <a:srgbClr val="2F3239"/>
            </a:solidFill>
            <a:prstDash val="solid"/>
          </a:ln>
        </p:spPr>
      </p:sp>
      <p:sp>
        <p:nvSpPr>
          <p:cNvPr id="6" name="Text 4"/>
          <p:cNvSpPr txBox="1"/>
          <p:nvPr/>
        </p:nvSpPr>
        <p:spPr>
          <a:xfrm>
            <a:off x="841248" y="2395728"/>
            <a:ext cx="2194560" cy="274320"/>
          </a:xfrm>
          <a:prstGeom prst="rect">
            <a:avLst/>
          </a:prstGeom>
          <a:noFill/>
          <a:ln/>
        </p:spPr>
        <p:txBody>
          <a:bodyPr wrap="square" lIns="0" tIns="0" rIns="0" bIns="0" rtlCol="0" anchor="ctr"/>
          <a:lstStyle/>
          <a:p>
            <a:pPr indent="0" marL="0">
              <a:buNone/>
            </a:pPr>
            <a:r>
              <a:rPr lang="en-US" sz="1250" b="1" dirty="0">
                <a:solidFill>
                  <a:srgbClr val="5BD390"/>
                </a:solidFill>
                <a:latin typeface="Courier New" pitchFamily="34" charset="0"/>
                <a:ea typeface="Courier New" pitchFamily="34" charset="-122"/>
                <a:cs typeface="Courier New" pitchFamily="34" charset="-120"/>
              </a:rPr>
              <a:t>navigation</a:t>
            </a:r>
            <a:endParaRPr lang="en-US" sz="1250" dirty="0"/>
          </a:p>
        </p:txBody>
      </p:sp>
      <p:sp>
        <p:nvSpPr>
          <p:cNvPr id="7" name="Text 5"/>
          <p:cNvSpPr txBox="1"/>
          <p:nvPr/>
        </p:nvSpPr>
        <p:spPr>
          <a:xfrm>
            <a:off x="841248" y="2697480"/>
            <a:ext cx="2194560" cy="457200"/>
          </a:xfrm>
          <a:prstGeom prst="rect">
            <a:avLst/>
          </a:prstGeom>
          <a:noFill/>
          <a:ln/>
        </p:spPr>
        <p:txBody>
          <a:bodyPr wrap="square" lIns="0" tIns="0" rIns="0" bIns="0" rtlCol="0" anchor="t"/>
          <a:lstStyle/>
          <a:p>
            <a:pPr indent="0" marL="0">
              <a:lnSpc>
                <a:spcPct val="115000"/>
              </a:lnSpc>
              <a:buNone/>
            </a:pPr>
            <a:r>
              <a:rPr lang="en-US" sz="1150" dirty="0">
                <a:solidFill>
                  <a:srgbClr val="8F949D"/>
                </a:solidFill>
                <a:latin typeface="Calibri" pitchFamily="34" charset="0"/>
                <a:ea typeface="Calibri" pitchFamily="34" charset="-122"/>
                <a:cs typeface="Calibri" pitchFamily="34" charset="-120"/>
              </a:rPr>
              <a:t>the emitted code contains the path</a:t>
            </a:r>
            <a:endParaRPr lang="en-US" sz="1150" dirty="0"/>
          </a:p>
        </p:txBody>
      </p:sp>
      <p:sp>
        <p:nvSpPr>
          <p:cNvPr id="8" name="Shape 6"/>
          <p:cNvSpPr/>
          <p:nvPr/>
        </p:nvSpPr>
        <p:spPr>
          <a:xfrm>
            <a:off x="3383280" y="2240280"/>
            <a:ext cx="2560320" cy="960120"/>
          </a:xfrm>
          <a:prstGeom prst="roundRect">
            <a:avLst>
              <a:gd name="adj" fmla="val 7619"/>
            </a:avLst>
          </a:prstGeom>
          <a:solidFill>
            <a:srgbClr val="16181D"/>
          </a:solidFill>
          <a:ln w="12700">
            <a:solidFill>
              <a:srgbClr val="2F3239"/>
            </a:solidFill>
            <a:prstDash val="solid"/>
          </a:ln>
        </p:spPr>
      </p:sp>
      <p:sp>
        <p:nvSpPr>
          <p:cNvPr id="9" name="Text 7"/>
          <p:cNvSpPr txBox="1"/>
          <p:nvPr/>
        </p:nvSpPr>
        <p:spPr>
          <a:xfrm>
            <a:off x="3584448" y="2395728"/>
            <a:ext cx="2194560" cy="274320"/>
          </a:xfrm>
          <a:prstGeom prst="rect">
            <a:avLst/>
          </a:prstGeom>
          <a:noFill/>
          <a:ln/>
        </p:spPr>
        <p:txBody>
          <a:bodyPr wrap="square" lIns="0" tIns="0" rIns="0" bIns="0" rtlCol="0" anchor="ctr"/>
          <a:lstStyle/>
          <a:p>
            <a:pPr indent="0" marL="0">
              <a:buNone/>
            </a:pPr>
            <a:r>
              <a:rPr lang="en-US" sz="1250" b="1" dirty="0">
                <a:solidFill>
                  <a:srgbClr val="ECA929"/>
                </a:solidFill>
                <a:latin typeface="Courier New" pitchFamily="34" charset="0"/>
                <a:ea typeface="Courier New" pitchFamily="34" charset="-122"/>
                <a:cs typeface="Courier New" pitchFamily="34" charset="-120"/>
              </a:rPr>
              <a:t>control</a:t>
            </a:r>
            <a:endParaRPr lang="en-US" sz="1250" dirty="0"/>
          </a:p>
        </p:txBody>
      </p:sp>
      <p:sp>
        <p:nvSpPr>
          <p:cNvPr id="10" name="Text 8"/>
          <p:cNvSpPr txBox="1"/>
          <p:nvPr/>
        </p:nvSpPr>
        <p:spPr>
          <a:xfrm>
            <a:off x="3584448" y="2697480"/>
            <a:ext cx="2194560" cy="457200"/>
          </a:xfrm>
          <a:prstGeom prst="rect">
            <a:avLst/>
          </a:prstGeom>
          <a:noFill/>
          <a:ln/>
        </p:spPr>
        <p:txBody>
          <a:bodyPr wrap="square" lIns="0" tIns="0" rIns="0" bIns="0" rtlCol="0" anchor="t"/>
          <a:lstStyle/>
          <a:p>
            <a:pPr indent="0" marL="0">
              <a:lnSpc>
                <a:spcPct val="115000"/>
              </a:lnSpc>
              <a:buNone/>
            </a:pPr>
            <a:r>
              <a:rPr lang="en-US" sz="1150" dirty="0">
                <a:solidFill>
                  <a:srgbClr val="8F949D"/>
                </a:solidFill>
                <a:latin typeface="Calibri" pitchFamily="34" charset="0"/>
                <a:ea typeface="Calibri" pitchFamily="34" charset="-122"/>
                <a:cs typeface="Calibri" pitchFamily="34" charset="-120"/>
              </a:rPr>
              <a:t>it got there by clicking</a:t>
            </a:r>
            <a:endParaRPr lang="en-US" sz="1150" dirty="0"/>
          </a:p>
        </p:txBody>
      </p:sp>
      <p:sp>
        <p:nvSpPr>
          <p:cNvPr id="11" name="Shape 9"/>
          <p:cNvSpPr/>
          <p:nvPr/>
        </p:nvSpPr>
        <p:spPr>
          <a:xfrm>
            <a:off x="6126480" y="2240280"/>
            <a:ext cx="2560320" cy="960120"/>
          </a:xfrm>
          <a:prstGeom prst="roundRect">
            <a:avLst>
              <a:gd name="adj" fmla="val 7619"/>
            </a:avLst>
          </a:prstGeom>
          <a:solidFill>
            <a:srgbClr val="16181D"/>
          </a:solidFill>
          <a:ln w="12700">
            <a:solidFill>
              <a:srgbClr val="2F3239"/>
            </a:solidFill>
            <a:prstDash val="solid"/>
          </a:ln>
        </p:spPr>
      </p:sp>
      <p:sp>
        <p:nvSpPr>
          <p:cNvPr id="12" name="Text 10"/>
          <p:cNvSpPr txBox="1"/>
          <p:nvPr/>
        </p:nvSpPr>
        <p:spPr>
          <a:xfrm>
            <a:off x="6327648" y="2395728"/>
            <a:ext cx="2194560" cy="274320"/>
          </a:xfrm>
          <a:prstGeom prst="rect">
            <a:avLst/>
          </a:prstGeom>
          <a:noFill/>
          <a:ln/>
        </p:spPr>
        <p:txBody>
          <a:bodyPr wrap="square" lIns="0" tIns="0" rIns="0" bIns="0" rtlCol="0" anchor="ctr"/>
          <a:lstStyle/>
          <a:p>
            <a:pPr indent="0" marL="0">
              <a:buNone/>
            </a:pPr>
            <a:r>
              <a:rPr lang="en-US" sz="1250" b="1" dirty="0">
                <a:solidFill>
                  <a:srgbClr val="FF6A6C"/>
                </a:solidFill>
                <a:latin typeface="Courier New" pitchFamily="34" charset="0"/>
                <a:ea typeface="Courier New" pitchFamily="34" charset="-122"/>
                <a:cs typeface="Courier New" pitchFamily="34" charset="-120"/>
              </a:rPr>
              <a:t>scenario-text</a:t>
            </a:r>
            <a:endParaRPr lang="en-US" sz="1250" dirty="0"/>
          </a:p>
        </p:txBody>
      </p:sp>
      <p:sp>
        <p:nvSpPr>
          <p:cNvPr id="13" name="Text 11"/>
          <p:cNvSpPr txBox="1"/>
          <p:nvPr/>
        </p:nvSpPr>
        <p:spPr>
          <a:xfrm>
            <a:off x="6327648" y="2697480"/>
            <a:ext cx="2194560" cy="457200"/>
          </a:xfrm>
          <a:prstGeom prst="rect">
            <a:avLst/>
          </a:prstGeom>
          <a:noFill/>
          <a:ln/>
        </p:spPr>
        <p:txBody>
          <a:bodyPr wrap="square" lIns="0" tIns="0" rIns="0" bIns="0" rtlCol="0" anchor="t"/>
          <a:lstStyle/>
          <a:p>
            <a:pPr indent="0" marL="0">
              <a:lnSpc>
                <a:spcPct val="115000"/>
              </a:lnSpc>
              <a:buNone/>
            </a:pPr>
            <a:r>
              <a:rPr lang="en-US" sz="1150" dirty="0">
                <a:solidFill>
                  <a:srgbClr val="8F949D"/>
                </a:solidFill>
                <a:latin typeface="Calibri" pitchFamily="34" charset="0"/>
                <a:ea typeface="Calibri" pitchFamily="34" charset="-122"/>
                <a:cs typeface="Calibri" pitchFamily="34" charset="-120"/>
              </a:rPr>
              <a:t>only the plan names it</a:t>
            </a:r>
            <a:endParaRPr lang="en-US" sz="1150" dirty="0"/>
          </a:p>
        </p:txBody>
      </p:sp>
      <p:sp>
        <p:nvSpPr>
          <p:cNvPr id="14" name="Shape 12"/>
          <p:cNvSpPr/>
          <p:nvPr/>
        </p:nvSpPr>
        <p:spPr>
          <a:xfrm>
            <a:off x="8869680" y="2240280"/>
            <a:ext cx="2560320" cy="960120"/>
          </a:xfrm>
          <a:prstGeom prst="roundRect">
            <a:avLst>
              <a:gd name="adj" fmla="val 7619"/>
            </a:avLst>
          </a:prstGeom>
          <a:solidFill>
            <a:srgbClr val="16181D"/>
          </a:solidFill>
          <a:ln w="12700">
            <a:solidFill>
              <a:srgbClr val="2F3239"/>
            </a:solidFill>
            <a:prstDash val="solid"/>
          </a:ln>
        </p:spPr>
      </p:sp>
      <p:sp>
        <p:nvSpPr>
          <p:cNvPr id="15" name="Text 13"/>
          <p:cNvSpPr txBox="1"/>
          <p:nvPr/>
        </p:nvSpPr>
        <p:spPr>
          <a:xfrm>
            <a:off x="9070848" y="2395728"/>
            <a:ext cx="2194560" cy="274320"/>
          </a:xfrm>
          <a:prstGeom prst="rect">
            <a:avLst/>
          </a:prstGeom>
          <a:noFill/>
          <a:ln/>
        </p:spPr>
        <p:txBody>
          <a:bodyPr wrap="square" lIns="0" tIns="0" rIns="0" bIns="0" rtlCol="0" anchor="ctr"/>
          <a:lstStyle/>
          <a:p>
            <a:pPr indent="0" marL="0">
              <a:buNone/>
            </a:pPr>
            <a:r>
              <a:rPr lang="en-US" sz="1250" b="1" dirty="0">
                <a:solidFill>
                  <a:srgbClr val="8F949D"/>
                </a:solidFill>
                <a:latin typeface="Courier New" pitchFamily="34" charset="0"/>
                <a:ea typeface="Courier New" pitchFamily="34" charset="-122"/>
                <a:cs typeface="Courier New" pitchFamily="34" charset="-120"/>
              </a:rPr>
              <a:t>none</a:t>
            </a:r>
            <a:endParaRPr lang="en-US" sz="1250" dirty="0"/>
          </a:p>
        </p:txBody>
      </p:sp>
      <p:sp>
        <p:nvSpPr>
          <p:cNvPr id="16" name="Text 14"/>
          <p:cNvSpPr txBox="1"/>
          <p:nvPr/>
        </p:nvSpPr>
        <p:spPr>
          <a:xfrm>
            <a:off x="9070848" y="2697480"/>
            <a:ext cx="2194560" cy="457200"/>
          </a:xfrm>
          <a:prstGeom prst="rect">
            <a:avLst/>
          </a:prstGeom>
          <a:noFill/>
          <a:ln/>
        </p:spPr>
        <p:txBody>
          <a:bodyPr wrap="square" lIns="0" tIns="0" rIns="0" bIns="0" rtlCol="0" anchor="t"/>
          <a:lstStyle/>
          <a:p>
            <a:pPr indent="0" marL="0">
              <a:lnSpc>
                <a:spcPct val="115000"/>
              </a:lnSpc>
              <a:buNone/>
            </a:pPr>
            <a:r>
              <a:rPr lang="en-US" sz="1150" dirty="0">
                <a:solidFill>
                  <a:srgbClr val="8F949D"/>
                </a:solidFill>
                <a:latin typeface="Calibri" pitchFamily="34" charset="0"/>
                <a:ea typeface="Calibri" pitchFamily="34" charset="-122"/>
                <a:cs typeface="Calibri" pitchFamily="34" charset="-120"/>
              </a:rPr>
              <a:t>nothing reached it</a:t>
            </a:r>
            <a:endParaRPr lang="en-US" sz="1150" dirty="0"/>
          </a:p>
        </p:txBody>
      </p:sp>
      <p:sp>
        <p:nvSpPr>
          <p:cNvPr id="17" name="Shape 15"/>
          <p:cNvSpPr/>
          <p:nvPr/>
        </p:nvSpPr>
        <p:spPr>
          <a:xfrm>
            <a:off x="640080" y="3429000"/>
            <a:ext cx="5349240" cy="2377440"/>
          </a:xfrm>
          <a:prstGeom prst="roundRect">
            <a:avLst>
              <a:gd name="adj" fmla="val 3077"/>
            </a:avLst>
          </a:prstGeom>
          <a:solidFill>
            <a:srgbClr val="1E2026"/>
          </a:solidFill>
          <a:ln w="12700">
            <a:solidFill>
              <a:srgbClr val="A376E9"/>
            </a:solidFill>
            <a:prstDash val="solid"/>
          </a:ln>
        </p:spPr>
      </p:sp>
      <p:sp>
        <p:nvSpPr>
          <p:cNvPr id="18" name="Text 16"/>
          <p:cNvSpPr txBox="1"/>
          <p:nvPr/>
        </p:nvSpPr>
        <p:spPr>
          <a:xfrm>
            <a:off x="960120" y="3657600"/>
            <a:ext cx="4663440" cy="320040"/>
          </a:xfrm>
          <a:prstGeom prst="rect">
            <a:avLst/>
          </a:prstGeom>
          <a:noFill/>
          <a:ln/>
        </p:spPr>
        <p:txBody>
          <a:bodyPr wrap="square" lIns="0" tIns="0" rIns="0" bIns="0" rtlCol="0" anchor="ctr"/>
          <a:lstStyle/>
          <a:p>
            <a:pPr indent="0" marL="0">
              <a:buNone/>
            </a:pPr>
            <a:r>
              <a:rPr lang="en-US" sz="1700" b="1" dirty="0">
                <a:solidFill>
                  <a:srgbClr val="A376E9"/>
                </a:solidFill>
                <a:latin typeface="Courier New" pitchFamily="34" charset="0"/>
                <a:ea typeface="Courier New" pitchFamily="34" charset="-122"/>
                <a:cs typeface="Courier New" pitchFamily="34" charset="-120"/>
              </a:rPr>
              <a:t>planned-only</a:t>
            </a:r>
            <a:endParaRPr lang="en-US" sz="1700" dirty="0"/>
          </a:p>
        </p:txBody>
      </p:sp>
      <p:sp>
        <p:nvSpPr>
          <p:cNvPr id="19" name="Text 17"/>
          <p:cNvSpPr txBox="1"/>
          <p:nvPr/>
        </p:nvSpPr>
        <p:spPr>
          <a:xfrm>
            <a:off x="960120" y="4069080"/>
            <a:ext cx="4663440" cy="1828800"/>
          </a:xfrm>
          <a:prstGeom prst="rect">
            <a:avLst/>
          </a:prstGeom>
          <a:noFill/>
          <a:ln/>
        </p:spPr>
        <p:txBody>
          <a:bodyPr wrap="square" lIns="0" tIns="0" rIns="0" bIns="0" rtlCol="0" anchor="t"/>
          <a:lstStyle/>
          <a:p>
            <a:pPr indent="0" marL="0">
              <a:lnSpc>
                <a:spcPct val="115000"/>
              </a:lnSpc>
              <a:buNone/>
            </a:pPr>
            <a:r>
              <a:rPr lang="en-US" sz="1350" dirty="0">
                <a:solidFill>
                  <a:srgbClr val="D1D4D9"/>
                </a:solidFill>
                <a:latin typeface="Calibri" pitchFamily="34" charset="0"/>
                <a:ea typeface="Calibri" pitchFamily="34" charset="-122"/>
                <a:cs typeface="Calibri" pitchFamily="34" charset="-120"/>
              </a:rPr>
              <a:t>The plan covers this surface and no test ever ran. Intent without evidence — worse news than a surface nobody thought of, and scored accordingly.</a:t>
            </a:r>
            <a:endParaRPr lang="en-US" sz="1350" dirty="0"/>
          </a:p>
          <a:p>
            <a:pPr indent="0" marL="0">
              <a:lnSpc>
                <a:spcPct val="115000"/>
              </a:lnSpc>
              <a:buNone/>
            </a:pPr>
            <a:endParaRPr lang="en-US" sz="1350" dirty="0"/>
          </a:p>
          <a:p>
            <a:pPr indent="0" marL="0">
              <a:lnSpc>
                <a:spcPct val="115000"/>
              </a:lnSpc>
              <a:buNone/>
            </a:pPr>
            <a:r>
              <a:rPr lang="en-US" sz="1350" dirty="0">
                <a:solidFill>
                  <a:srgbClr val="D1D4D9"/>
                </a:solidFill>
                <a:latin typeface="Calibri" pitchFamily="34" charset="0"/>
                <a:ea typeface="Calibri" pitchFamily="34" charset="-122"/>
                <a:cs typeface="Calibri" pitchFamily="34" charset="-120"/>
              </a:rPr>
              <a:t>The naive version of this feature ticks that row and tells a team their PRD is covered about a flow nothing ever loaded.</a:t>
            </a:r>
            <a:endParaRPr lang="en-US" sz="1350" dirty="0"/>
          </a:p>
        </p:txBody>
      </p:sp>
      <p:sp>
        <p:nvSpPr>
          <p:cNvPr id="20" name="Shape 18"/>
          <p:cNvSpPr/>
          <p:nvPr/>
        </p:nvSpPr>
        <p:spPr>
          <a:xfrm>
            <a:off x="6263640" y="3429000"/>
            <a:ext cx="5257800" cy="2377440"/>
          </a:xfrm>
          <a:prstGeom prst="roundRect">
            <a:avLst>
              <a:gd name="adj" fmla="val 3077"/>
            </a:avLst>
          </a:prstGeom>
          <a:solidFill>
            <a:srgbClr val="16181D"/>
          </a:solidFill>
          <a:ln w="12700">
            <a:solidFill>
              <a:srgbClr val="2F3239"/>
            </a:solidFill>
            <a:prstDash val="solid"/>
          </a:ln>
        </p:spPr>
      </p:sp>
      <p:sp>
        <p:nvSpPr>
          <p:cNvPr id="21" name="Text 19"/>
          <p:cNvSpPr txBox="1"/>
          <p:nvPr/>
        </p:nvSpPr>
        <p:spPr>
          <a:xfrm>
            <a:off x="6537960" y="3639312"/>
            <a:ext cx="4663440" cy="274320"/>
          </a:xfrm>
          <a:prstGeom prst="rect">
            <a:avLst/>
          </a:prstGeom>
          <a:noFill/>
          <a:ln/>
        </p:spPr>
        <p:txBody>
          <a:bodyPr wrap="square" lIns="0" tIns="0" rIns="0" bIns="0" rtlCol="0" anchor="ctr"/>
          <a:lstStyle/>
          <a:p>
            <a:pPr indent="0" marL="0">
              <a:buNone/>
            </a:pPr>
            <a:r>
              <a:rPr lang="en-US" sz="1000" b="1" spc="150" kern="0" dirty="0">
                <a:solidFill>
                  <a:srgbClr val="F06504"/>
                </a:solidFill>
                <a:latin typeface="Calibri" pitchFamily="34" charset="0"/>
                <a:ea typeface="Calibri" pitchFamily="34" charset="-122"/>
                <a:cs typeface="Calibri" pitchFamily="34" charset="-120"/>
              </a:rPr>
              <a:t>PUBLISHED WEIGHT TABLE</a:t>
            </a:r>
            <a:endParaRPr lang="en-US" sz="1000" dirty="0"/>
          </a:p>
        </p:txBody>
      </p:sp>
      <p:sp>
        <p:nvSpPr>
          <p:cNvPr id="22" name="Text 20"/>
          <p:cNvSpPr txBox="1"/>
          <p:nvPr/>
        </p:nvSpPr>
        <p:spPr>
          <a:xfrm>
            <a:off x="6537960" y="3950208"/>
            <a:ext cx="4114800" cy="274320"/>
          </a:xfrm>
          <a:prstGeom prst="rect">
            <a:avLst/>
          </a:prstGeom>
          <a:noFill/>
          <a:ln/>
        </p:spPr>
        <p:txBody>
          <a:bodyPr wrap="square" lIns="0" tIns="0" rIns="0" bIns="0" rtlCol="0" anchor="ctr"/>
          <a:lstStyle/>
          <a:p>
            <a:pPr indent="0" marL="0">
              <a:buNone/>
            </a:pPr>
            <a:r>
              <a:rPr lang="en-US" sz="1200" dirty="0">
                <a:solidFill>
                  <a:srgbClr val="D1D4D9"/>
                </a:solidFill>
                <a:latin typeface="Calibri" pitchFamily="34" charset="0"/>
                <a:ea typeface="Calibri" pitchFamily="34" charset="-122"/>
                <a:cs typeface="Calibri" pitchFamily="34" charset="-120"/>
              </a:rPr>
              <a:t>Touches credentials or account recovery</a:t>
            </a:r>
            <a:endParaRPr lang="en-US" sz="1200" dirty="0"/>
          </a:p>
        </p:txBody>
      </p:sp>
      <p:sp>
        <p:nvSpPr>
          <p:cNvPr id="23" name="Text 21"/>
          <p:cNvSpPr txBox="1"/>
          <p:nvPr/>
        </p:nvSpPr>
        <p:spPr>
          <a:xfrm>
            <a:off x="10698480" y="3950208"/>
            <a:ext cx="502920" cy="274320"/>
          </a:xfrm>
          <a:prstGeom prst="rect">
            <a:avLst/>
          </a:prstGeom>
          <a:noFill/>
          <a:ln/>
        </p:spPr>
        <p:txBody>
          <a:bodyPr wrap="square" lIns="0" tIns="0" rIns="0" bIns="0" rtlCol="0" anchor="ctr"/>
          <a:lstStyle/>
          <a:p>
            <a:pPr algn="r" indent="0" marL="0">
              <a:buNone/>
            </a:pPr>
            <a:r>
              <a:rPr lang="en-US" sz="1200" b="1" dirty="0">
                <a:solidFill>
                  <a:srgbClr val="FD8F37"/>
                </a:solidFill>
                <a:latin typeface="Courier New" pitchFamily="34" charset="0"/>
                <a:ea typeface="Courier New" pitchFamily="34" charset="-122"/>
                <a:cs typeface="Courier New" pitchFamily="34" charset="-120"/>
              </a:rPr>
              <a:t>22</a:t>
            </a:r>
            <a:endParaRPr lang="en-US" sz="1200" dirty="0"/>
          </a:p>
        </p:txBody>
      </p:sp>
      <p:sp>
        <p:nvSpPr>
          <p:cNvPr id="24" name="Text 22"/>
          <p:cNvSpPr txBox="1"/>
          <p:nvPr/>
        </p:nvSpPr>
        <p:spPr>
          <a:xfrm>
            <a:off x="6537960" y="4251960"/>
            <a:ext cx="4114800" cy="274320"/>
          </a:xfrm>
          <a:prstGeom prst="rect">
            <a:avLst/>
          </a:prstGeom>
          <a:noFill/>
          <a:ln/>
        </p:spPr>
        <p:txBody>
          <a:bodyPr wrap="square" lIns="0" tIns="0" rIns="0" bIns="0" rtlCol="0" anchor="ctr"/>
          <a:lstStyle/>
          <a:p>
            <a:pPr indent="0" marL="0">
              <a:buNone/>
            </a:pPr>
            <a:r>
              <a:rPr lang="en-US" sz="1200" dirty="0">
                <a:solidFill>
                  <a:srgbClr val="D1D4D9"/>
                </a:solidFill>
                <a:latin typeface="Calibri" pitchFamily="34" charset="0"/>
                <a:ea typeface="Calibri" pitchFamily="34" charset="-122"/>
                <a:cs typeface="Calibri" pitchFamily="34" charset="-120"/>
              </a:rPr>
              <a:t>Handles money or personal data</a:t>
            </a:r>
            <a:endParaRPr lang="en-US" sz="1200" dirty="0"/>
          </a:p>
        </p:txBody>
      </p:sp>
      <p:sp>
        <p:nvSpPr>
          <p:cNvPr id="25" name="Text 23"/>
          <p:cNvSpPr txBox="1"/>
          <p:nvPr/>
        </p:nvSpPr>
        <p:spPr>
          <a:xfrm>
            <a:off x="10698480" y="4251960"/>
            <a:ext cx="502920" cy="274320"/>
          </a:xfrm>
          <a:prstGeom prst="rect">
            <a:avLst/>
          </a:prstGeom>
          <a:noFill/>
          <a:ln/>
        </p:spPr>
        <p:txBody>
          <a:bodyPr wrap="square" lIns="0" tIns="0" rIns="0" bIns="0" rtlCol="0" anchor="ctr"/>
          <a:lstStyle/>
          <a:p>
            <a:pPr algn="r" indent="0" marL="0">
              <a:buNone/>
            </a:pPr>
            <a:r>
              <a:rPr lang="en-US" sz="1200" b="1" dirty="0">
                <a:solidFill>
                  <a:srgbClr val="FD8F37"/>
                </a:solidFill>
                <a:latin typeface="Courier New" pitchFamily="34" charset="0"/>
                <a:ea typeface="Courier New" pitchFamily="34" charset="-122"/>
                <a:cs typeface="Courier New" pitchFamily="34" charset="-120"/>
              </a:rPr>
              <a:t>20</a:t>
            </a:r>
            <a:endParaRPr lang="en-US" sz="1200" dirty="0"/>
          </a:p>
        </p:txBody>
      </p:sp>
      <p:sp>
        <p:nvSpPr>
          <p:cNvPr id="26" name="Text 24"/>
          <p:cNvSpPr txBox="1"/>
          <p:nvPr/>
        </p:nvSpPr>
        <p:spPr>
          <a:xfrm>
            <a:off x="6537960" y="4553712"/>
            <a:ext cx="4114800" cy="274320"/>
          </a:xfrm>
          <a:prstGeom prst="rect">
            <a:avLst/>
          </a:prstGeom>
          <a:noFill/>
          <a:ln/>
        </p:spPr>
        <p:txBody>
          <a:bodyPr wrap="square" lIns="0" tIns="0" rIns="0" bIns="0" rtlCol="0" anchor="ctr"/>
          <a:lstStyle/>
          <a:p>
            <a:pPr indent="0" marL="0">
              <a:buNone/>
            </a:pPr>
            <a:r>
              <a:rPr lang="en-US" sz="1200" dirty="0">
                <a:solidFill>
                  <a:srgbClr val="D1D4D9"/>
                </a:solidFill>
                <a:latin typeface="Calibri" pitchFamily="34" charset="0"/>
                <a:ea typeface="Calibri" pitchFamily="34" charset="-122"/>
                <a:cs typeface="Calibri" pitchFamily="34" charset="-120"/>
              </a:rPr>
              <a:t>Destructive or privileged action</a:t>
            </a:r>
            <a:endParaRPr lang="en-US" sz="1200" dirty="0"/>
          </a:p>
        </p:txBody>
      </p:sp>
      <p:sp>
        <p:nvSpPr>
          <p:cNvPr id="27" name="Text 25"/>
          <p:cNvSpPr txBox="1"/>
          <p:nvPr/>
        </p:nvSpPr>
        <p:spPr>
          <a:xfrm>
            <a:off x="10698480" y="4553712"/>
            <a:ext cx="502920" cy="274320"/>
          </a:xfrm>
          <a:prstGeom prst="rect">
            <a:avLst/>
          </a:prstGeom>
          <a:noFill/>
          <a:ln/>
        </p:spPr>
        <p:txBody>
          <a:bodyPr wrap="square" lIns="0" tIns="0" rIns="0" bIns="0" rtlCol="0" anchor="ctr"/>
          <a:lstStyle/>
          <a:p>
            <a:pPr algn="r" indent="0" marL="0">
              <a:buNone/>
            </a:pPr>
            <a:r>
              <a:rPr lang="en-US" sz="1200" b="1" dirty="0">
                <a:solidFill>
                  <a:srgbClr val="FD8F37"/>
                </a:solidFill>
                <a:latin typeface="Courier New" pitchFamily="34" charset="0"/>
                <a:ea typeface="Courier New" pitchFamily="34" charset="-122"/>
                <a:cs typeface="Courier New" pitchFamily="34" charset="-120"/>
              </a:rPr>
              <a:t>18</a:t>
            </a:r>
            <a:endParaRPr lang="en-US" sz="1200" dirty="0"/>
          </a:p>
        </p:txBody>
      </p:sp>
      <p:sp>
        <p:nvSpPr>
          <p:cNvPr id="28" name="Text 26"/>
          <p:cNvSpPr txBox="1"/>
          <p:nvPr/>
        </p:nvSpPr>
        <p:spPr>
          <a:xfrm>
            <a:off x="6537960" y="4855464"/>
            <a:ext cx="4114800" cy="274320"/>
          </a:xfrm>
          <a:prstGeom prst="rect">
            <a:avLst/>
          </a:prstGeom>
          <a:noFill/>
          <a:ln/>
        </p:spPr>
        <p:txBody>
          <a:bodyPr wrap="square" lIns="0" tIns="0" rIns="0" bIns="0" rtlCol="0" anchor="ctr"/>
          <a:lstStyle/>
          <a:p>
            <a:pPr indent="0" marL="0">
              <a:buNone/>
            </a:pPr>
            <a:r>
              <a:rPr lang="en-US" sz="1200" dirty="0">
                <a:solidFill>
                  <a:srgbClr val="D1D4D9"/>
                </a:solidFill>
                <a:latin typeface="Calibri" pitchFamily="34" charset="0"/>
                <a:ea typeface="Calibri" pitchFamily="34" charset="-122"/>
                <a:cs typeface="Calibri" pitchFamily="34" charset="-120"/>
              </a:rPr>
              <a:t>Named in the supplied PRD</a:t>
            </a:r>
            <a:endParaRPr lang="en-US" sz="1200" dirty="0"/>
          </a:p>
        </p:txBody>
      </p:sp>
      <p:sp>
        <p:nvSpPr>
          <p:cNvPr id="29" name="Text 27"/>
          <p:cNvSpPr txBox="1"/>
          <p:nvPr/>
        </p:nvSpPr>
        <p:spPr>
          <a:xfrm>
            <a:off x="10698480" y="4855464"/>
            <a:ext cx="502920" cy="274320"/>
          </a:xfrm>
          <a:prstGeom prst="rect">
            <a:avLst/>
          </a:prstGeom>
          <a:noFill/>
          <a:ln/>
        </p:spPr>
        <p:txBody>
          <a:bodyPr wrap="square" lIns="0" tIns="0" rIns="0" bIns="0" rtlCol="0" anchor="ctr"/>
          <a:lstStyle/>
          <a:p>
            <a:pPr algn="r" indent="0" marL="0">
              <a:buNone/>
            </a:pPr>
            <a:r>
              <a:rPr lang="en-US" sz="1200" b="1" dirty="0">
                <a:solidFill>
                  <a:srgbClr val="FD8F37"/>
                </a:solidFill>
                <a:latin typeface="Courier New" pitchFamily="34" charset="0"/>
                <a:ea typeface="Courier New" pitchFamily="34" charset="-122"/>
                <a:cs typeface="Courier New" pitchFamily="34" charset="-120"/>
              </a:rPr>
              <a:t>18</a:t>
            </a:r>
            <a:endParaRPr lang="en-US" sz="1200" dirty="0"/>
          </a:p>
        </p:txBody>
      </p:sp>
      <p:sp>
        <p:nvSpPr>
          <p:cNvPr id="30" name="Text 28"/>
          <p:cNvSpPr txBox="1"/>
          <p:nvPr/>
        </p:nvSpPr>
        <p:spPr>
          <a:xfrm>
            <a:off x="6537960" y="5157216"/>
            <a:ext cx="4114800" cy="274320"/>
          </a:xfrm>
          <a:prstGeom prst="rect">
            <a:avLst/>
          </a:prstGeom>
          <a:noFill/>
          <a:ln/>
        </p:spPr>
        <p:txBody>
          <a:bodyPr wrap="square" lIns="0" tIns="0" rIns="0" bIns="0" rtlCol="0" anchor="ctr"/>
          <a:lstStyle/>
          <a:p>
            <a:pPr indent="0" marL="0">
              <a:buNone/>
            </a:pPr>
            <a:r>
              <a:rPr lang="en-US" sz="1200" dirty="0">
                <a:solidFill>
                  <a:srgbClr val="D1D4D9"/>
                </a:solidFill>
                <a:latin typeface="Calibri" pitchFamily="34" charset="0"/>
                <a:ea typeface="Calibri" pitchFamily="34" charset="-122"/>
                <a:cs typeface="Calibri" pitchFamily="34" charset="-120"/>
              </a:rPr>
              <a:t>The plan covered it and no test ran</a:t>
            </a:r>
            <a:endParaRPr lang="en-US" sz="1200" dirty="0"/>
          </a:p>
        </p:txBody>
      </p:sp>
      <p:sp>
        <p:nvSpPr>
          <p:cNvPr id="31" name="Text 29"/>
          <p:cNvSpPr txBox="1"/>
          <p:nvPr/>
        </p:nvSpPr>
        <p:spPr>
          <a:xfrm>
            <a:off x="10698480" y="5157216"/>
            <a:ext cx="502920" cy="274320"/>
          </a:xfrm>
          <a:prstGeom prst="rect">
            <a:avLst/>
          </a:prstGeom>
          <a:noFill/>
          <a:ln/>
        </p:spPr>
        <p:txBody>
          <a:bodyPr wrap="square" lIns="0" tIns="0" rIns="0" bIns="0" rtlCol="0" anchor="ctr"/>
          <a:lstStyle/>
          <a:p>
            <a:pPr algn="r" indent="0" marL="0">
              <a:buNone/>
            </a:pPr>
            <a:r>
              <a:rPr lang="en-US" sz="1200" b="1" dirty="0">
                <a:solidFill>
                  <a:srgbClr val="FD8F37"/>
                </a:solidFill>
                <a:latin typeface="Courier New" pitchFamily="34" charset="0"/>
                <a:ea typeface="Courier New" pitchFamily="34" charset="-122"/>
                <a:cs typeface="Courier New" pitchFamily="34" charset="-120"/>
              </a:rPr>
              <a:t>18</a:t>
            </a:r>
            <a:endParaRPr lang="en-US" sz="1200" dirty="0"/>
          </a:p>
        </p:txBody>
      </p:sp>
      <p:sp>
        <p:nvSpPr>
          <p:cNvPr id="32" name="Text 30"/>
          <p:cNvSpPr txBox="1"/>
          <p:nvPr/>
        </p:nvSpPr>
        <p:spPr>
          <a:xfrm>
            <a:off x="6537960" y="5458968"/>
            <a:ext cx="4114800" cy="274320"/>
          </a:xfrm>
          <a:prstGeom prst="rect">
            <a:avLst/>
          </a:prstGeom>
          <a:noFill/>
          <a:ln/>
        </p:spPr>
        <p:txBody>
          <a:bodyPr wrap="square" lIns="0" tIns="0" rIns="0" bIns="0" rtlCol="0" anchor="ctr"/>
          <a:lstStyle/>
          <a:p>
            <a:pPr indent="0" marL="0">
              <a:buNone/>
            </a:pPr>
            <a:r>
              <a:rPr lang="en-US" sz="1200" dirty="0">
                <a:solidFill>
                  <a:srgbClr val="D1D4D9"/>
                </a:solidFill>
                <a:latin typeface="Calibri" pitchFamily="34" charset="0"/>
                <a:ea typeface="Calibri" pitchFamily="34" charset="-122"/>
                <a:cs typeface="Calibri" pitchFamily="34" charset="-120"/>
              </a:rPr>
              <a:t>Reachable in ≤2 segments</a:t>
            </a:r>
            <a:endParaRPr lang="en-US" sz="1200" dirty="0"/>
          </a:p>
        </p:txBody>
      </p:sp>
      <p:sp>
        <p:nvSpPr>
          <p:cNvPr id="33" name="Text 31"/>
          <p:cNvSpPr txBox="1"/>
          <p:nvPr/>
        </p:nvSpPr>
        <p:spPr>
          <a:xfrm>
            <a:off x="10698480" y="5458968"/>
            <a:ext cx="502920" cy="274320"/>
          </a:xfrm>
          <a:prstGeom prst="rect">
            <a:avLst/>
          </a:prstGeom>
          <a:noFill/>
          <a:ln/>
        </p:spPr>
        <p:txBody>
          <a:bodyPr wrap="square" lIns="0" tIns="0" rIns="0" bIns="0" rtlCol="0" anchor="ctr"/>
          <a:lstStyle/>
          <a:p>
            <a:pPr algn="r" indent="0" marL="0">
              <a:buNone/>
            </a:pPr>
            <a:r>
              <a:rPr lang="en-US" sz="1200" b="1" dirty="0">
                <a:solidFill>
                  <a:srgbClr val="FD8F37"/>
                </a:solidFill>
                <a:latin typeface="Courier New" pitchFamily="34" charset="0"/>
                <a:ea typeface="Courier New" pitchFamily="34" charset="-122"/>
                <a:cs typeface="Courier New" pitchFamily="34" charset="-120"/>
              </a:rPr>
              <a:t>12</a:t>
            </a:r>
            <a:endParaRPr lang="en-US" sz="1200" dirty="0"/>
          </a:p>
        </p:txBody>
      </p:sp>
      <p:sp>
        <p:nvSpPr>
          <p:cNvPr id="34" name="Text 32"/>
          <p:cNvSpPr txBox="1"/>
          <p:nvPr/>
        </p:nvSpPr>
        <p:spPr>
          <a:xfrm>
            <a:off x="640080" y="6035040"/>
            <a:ext cx="10881360" cy="457200"/>
          </a:xfrm>
          <a:prstGeom prst="rect">
            <a:avLst/>
          </a:prstGeom>
          <a:noFill/>
          <a:ln/>
        </p:spPr>
        <p:txBody>
          <a:bodyPr wrap="square" lIns="0" tIns="0" rIns="0" bIns="0" rtlCol="0" anchor="t"/>
          <a:lstStyle/>
          <a:p>
            <a:pPr indent="0" marL="0">
              <a:lnSpc>
                <a:spcPct val="115000"/>
              </a:lnSpc>
              <a:buNone/>
            </a:pPr>
            <a:r>
              <a:rPr lang="en-US" sz="1350" i="1" dirty="0">
                <a:solidFill>
                  <a:srgbClr val="FD8F37"/>
                </a:solidFill>
                <a:latin typeface="Calibri" pitchFamily="34" charset="0"/>
                <a:ea typeface="Calibri" pitchFamily="34" charset="-122"/>
                <a:cs typeface="Calibri" pitchFamily="34" charset="-120"/>
              </a:rPr>
              <a:t>The model may adjust a score by ±15 — and an adjustment citing nothing the factors missed is discarded, not damped. None of this scoring needs a model, so the ledger is real with no API key at all.</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90A0E"/>
        </a:solidFill>
      </p:bgPr>
    </p:bg>
    <p:spTree>
      <p:nvGrpSpPr>
        <p:cNvPr id="1" name=""/>
        <p:cNvGrpSpPr/>
        <p:nvPr/>
      </p:nvGrpSpPr>
      <p:grpSpPr>
        <a:xfrm>
          <a:off x="0" y="0"/>
          <a:ext cx="0" cy="0"/>
          <a:chOff x="0" y="0"/>
          <a:chExt cx="0" cy="0"/>
        </a:xfrm>
      </p:grpSpPr>
      <p:sp>
        <p:nvSpPr>
          <p:cNvPr id="2" name="Text 0"/>
          <p:cNvSpPr txBox="1"/>
          <p:nvPr/>
        </p:nvSpPr>
        <p:spPr>
          <a:xfrm>
            <a:off x="640080" y="274320"/>
            <a:ext cx="10881360" cy="228600"/>
          </a:xfrm>
          <a:prstGeom prst="rect">
            <a:avLst/>
          </a:prstGeom>
          <a:noFill/>
          <a:ln/>
        </p:spPr>
        <p:txBody>
          <a:bodyPr wrap="square" lIns="0" tIns="0" rIns="0" bIns="0" rtlCol="0" anchor="ctr"/>
          <a:lstStyle/>
          <a:p>
            <a:pPr indent="0" marL="0">
              <a:buNone/>
            </a:pPr>
            <a:r>
              <a:rPr lang="en-US" sz="1100" b="1" spc="200" kern="0" dirty="0">
                <a:solidFill>
                  <a:srgbClr val="F06504"/>
                </a:solidFill>
                <a:latin typeface="Calibri" pitchFamily="34" charset="0"/>
                <a:ea typeface="Calibri" pitchFamily="34" charset="-122"/>
                <a:cs typeface="Calibri" pitchFamily="34" charset="-120"/>
              </a:rPr>
              <a:t>TRADE-OFFS WE WOULD DEFEND</a:t>
            </a:r>
            <a:endParaRPr lang="en-US" sz="1100" dirty="0"/>
          </a:p>
        </p:txBody>
      </p:sp>
      <p:sp>
        <p:nvSpPr>
          <p:cNvPr id="3" name="Text 1"/>
          <p:cNvSpPr txBox="1"/>
          <p:nvPr/>
        </p:nvSpPr>
        <p:spPr>
          <a:xfrm>
            <a:off x="640080" y="502920"/>
            <a:ext cx="10881360" cy="868680"/>
          </a:xfrm>
          <a:prstGeom prst="rect">
            <a:avLst/>
          </a:prstGeom>
          <a:noFill/>
          <a:ln/>
        </p:spPr>
        <p:txBody>
          <a:bodyPr wrap="square" lIns="0" tIns="0" rIns="0" bIns="0" rtlCol="0" anchor="ctr"/>
          <a:lstStyle/>
          <a:p>
            <a:pPr algn="l" indent="0" marL="0">
              <a:buNone/>
            </a:pPr>
            <a:r>
              <a:rPr lang="en-US" sz="3400" b="1" dirty="0">
                <a:solidFill>
                  <a:srgbClr val="EBEDF0"/>
                </a:solidFill>
                <a:latin typeface="Cambria" pitchFamily="34" charset="0"/>
                <a:ea typeface="Cambria" pitchFamily="34" charset="-122"/>
                <a:cs typeface="Cambria" pitchFamily="34" charset="-120"/>
              </a:rPr>
              <a:t>Six decisions, and what each one cost</a:t>
            </a:r>
            <a:endParaRPr lang="en-US" sz="3400" dirty="0"/>
          </a:p>
        </p:txBody>
      </p:sp>
      <p:sp>
        <p:nvSpPr>
          <p:cNvPr id="4" name="Shape 2"/>
          <p:cNvSpPr/>
          <p:nvPr/>
        </p:nvSpPr>
        <p:spPr>
          <a:xfrm>
            <a:off x="640080" y="1371600"/>
            <a:ext cx="5349240" cy="1371600"/>
          </a:xfrm>
          <a:prstGeom prst="roundRect">
            <a:avLst>
              <a:gd name="adj" fmla="val 5333"/>
            </a:avLst>
          </a:prstGeom>
          <a:solidFill>
            <a:srgbClr val="16181D"/>
          </a:solidFill>
          <a:ln w="12700">
            <a:solidFill>
              <a:srgbClr val="2F3239"/>
            </a:solidFill>
            <a:prstDash val="solid"/>
          </a:ln>
        </p:spPr>
      </p:sp>
      <p:sp>
        <p:nvSpPr>
          <p:cNvPr id="5" name="Text 3"/>
          <p:cNvSpPr txBox="1"/>
          <p:nvPr/>
        </p:nvSpPr>
        <p:spPr>
          <a:xfrm>
            <a:off x="914400" y="1572768"/>
            <a:ext cx="4800600" cy="274320"/>
          </a:xfrm>
          <a:prstGeom prst="rect">
            <a:avLst/>
          </a:prstGeom>
          <a:noFill/>
          <a:ln/>
        </p:spPr>
        <p:txBody>
          <a:bodyPr wrap="square" lIns="0" tIns="0" rIns="0" bIns="0" rtlCol="0" anchor="ctr"/>
          <a:lstStyle/>
          <a:p>
            <a:pPr indent="0" marL="0">
              <a:buNone/>
            </a:pPr>
            <a:r>
              <a:rPr lang="en-US" sz="1450" b="1" dirty="0">
                <a:solidFill>
                  <a:srgbClr val="FD8F37"/>
                </a:solidFill>
                <a:latin typeface="Calibri" pitchFamily="34" charset="0"/>
                <a:ea typeface="Calibri" pitchFamily="34" charset="-122"/>
                <a:cs typeface="Calibri" pitchFamily="34" charset="-120"/>
              </a:rPr>
              <a:t>Accessibility tree, not vision</a:t>
            </a:r>
            <a:endParaRPr lang="en-US" sz="1450" dirty="0"/>
          </a:p>
        </p:txBody>
      </p:sp>
      <p:sp>
        <p:nvSpPr>
          <p:cNvPr id="6" name="Text 4"/>
          <p:cNvSpPr txBox="1"/>
          <p:nvPr/>
        </p:nvSpPr>
        <p:spPr>
          <a:xfrm>
            <a:off x="914400" y="1920240"/>
            <a:ext cx="4800600" cy="731520"/>
          </a:xfrm>
          <a:prstGeom prst="rect">
            <a:avLst/>
          </a:prstGeom>
          <a:noFill/>
          <a:ln/>
        </p:spPr>
        <p:txBody>
          <a:bodyPr wrap="square" lIns="0" tIns="0" rIns="0" bIns="0" rtlCol="0" anchor="t"/>
          <a:lstStyle/>
          <a:p>
            <a:pPr indent="0" marL="0">
              <a:lnSpc>
                <a:spcPct val="115000"/>
              </a:lnSpc>
              <a:buNone/>
            </a:pPr>
            <a:r>
              <a:rPr lang="en-US" sz="1250" dirty="0">
                <a:solidFill>
                  <a:srgbClr val="8F949D"/>
                </a:solidFill>
                <a:latin typeface="Calibri" pitchFamily="34" charset="0"/>
                <a:ea typeface="Calibri" pitchFamily="34" charset="-122"/>
                <a:cs typeface="Calibri" pitchFamily="34" charset="-120"/>
              </a:rPr>
              <a:t>Deterministic and ~10× cheaper. Cost: a purely visual defect is invisible to it.</a:t>
            </a:r>
            <a:endParaRPr lang="en-US" sz="1250" dirty="0"/>
          </a:p>
        </p:txBody>
      </p:sp>
      <p:sp>
        <p:nvSpPr>
          <p:cNvPr id="7" name="Shape 5"/>
          <p:cNvSpPr/>
          <p:nvPr/>
        </p:nvSpPr>
        <p:spPr>
          <a:xfrm>
            <a:off x="6263640" y="1371600"/>
            <a:ext cx="5349240" cy="1371600"/>
          </a:xfrm>
          <a:prstGeom prst="roundRect">
            <a:avLst>
              <a:gd name="adj" fmla="val 5333"/>
            </a:avLst>
          </a:prstGeom>
          <a:solidFill>
            <a:srgbClr val="16181D"/>
          </a:solidFill>
          <a:ln w="12700">
            <a:solidFill>
              <a:srgbClr val="2F3239"/>
            </a:solidFill>
            <a:prstDash val="solid"/>
          </a:ln>
        </p:spPr>
      </p:sp>
      <p:sp>
        <p:nvSpPr>
          <p:cNvPr id="8" name="Text 6"/>
          <p:cNvSpPr txBox="1"/>
          <p:nvPr/>
        </p:nvSpPr>
        <p:spPr>
          <a:xfrm>
            <a:off x="6537960" y="1572768"/>
            <a:ext cx="4800600" cy="274320"/>
          </a:xfrm>
          <a:prstGeom prst="rect">
            <a:avLst/>
          </a:prstGeom>
          <a:noFill/>
          <a:ln/>
        </p:spPr>
        <p:txBody>
          <a:bodyPr wrap="square" lIns="0" tIns="0" rIns="0" bIns="0" rtlCol="0" anchor="ctr"/>
          <a:lstStyle/>
          <a:p>
            <a:pPr indent="0" marL="0">
              <a:buNone/>
            </a:pPr>
            <a:r>
              <a:rPr lang="en-US" sz="1450" b="1" dirty="0">
                <a:solidFill>
                  <a:srgbClr val="FD8F37"/>
                </a:solidFill>
                <a:latin typeface="Calibri" pitchFamily="34" charset="0"/>
                <a:ea typeface="Calibri" pitchFamily="34" charset="-122"/>
                <a:cs typeface="Calibri" pitchFamily="34" charset="-120"/>
              </a:rPr>
              <a:t>A visible browser, one worker</a:t>
            </a:r>
            <a:endParaRPr lang="en-US" sz="1450" dirty="0"/>
          </a:p>
        </p:txBody>
      </p:sp>
      <p:sp>
        <p:nvSpPr>
          <p:cNvPr id="9" name="Text 7"/>
          <p:cNvSpPr txBox="1"/>
          <p:nvPr/>
        </p:nvSpPr>
        <p:spPr>
          <a:xfrm>
            <a:off x="6537960" y="1920240"/>
            <a:ext cx="4800600" cy="731520"/>
          </a:xfrm>
          <a:prstGeom prst="rect">
            <a:avLst/>
          </a:prstGeom>
          <a:noFill/>
          <a:ln/>
        </p:spPr>
        <p:txBody>
          <a:bodyPr wrap="square" lIns="0" tIns="0" rIns="0" bIns="0" rtlCol="0" anchor="t"/>
          <a:lstStyle/>
          <a:p>
            <a:pPr indent="0" marL="0">
              <a:lnSpc>
                <a:spcPct val="115000"/>
              </a:lnSpc>
              <a:buNone/>
            </a:pPr>
            <a:r>
              <a:rPr lang="en-US" sz="1250" dirty="0">
                <a:solidFill>
                  <a:srgbClr val="8F949D"/>
                </a:solidFill>
                <a:latin typeface="Calibri" pitchFamily="34" charset="0"/>
                <a:ea typeface="Calibri" pitchFamily="34" charset="-122"/>
                <a:cs typeface="Calibri" pitchFamily="34" charset="-120"/>
              </a:rPr>
              <a:t>Watching it hunt for a locator is half of what makes a run legible. Cost: parallelism, until ODYSSEY_HEADLESS=1.</a:t>
            </a:r>
            <a:endParaRPr lang="en-US" sz="1250" dirty="0"/>
          </a:p>
        </p:txBody>
      </p:sp>
      <p:sp>
        <p:nvSpPr>
          <p:cNvPr id="10" name="Shape 8"/>
          <p:cNvSpPr/>
          <p:nvPr/>
        </p:nvSpPr>
        <p:spPr>
          <a:xfrm>
            <a:off x="640080" y="2971800"/>
            <a:ext cx="5349240" cy="1371600"/>
          </a:xfrm>
          <a:prstGeom prst="roundRect">
            <a:avLst>
              <a:gd name="adj" fmla="val 5333"/>
            </a:avLst>
          </a:prstGeom>
          <a:solidFill>
            <a:srgbClr val="16181D"/>
          </a:solidFill>
          <a:ln w="12700">
            <a:solidFill>
              <a:srgbClr val="2F3239"/>
            </a:solidFill>
            <a:prstDash val="solid"/>
          </a:ln>
        </p:spPr>
      </p:sp>
      <p:sp>
        <p:nvSpPr>
          <p:cNvPr id="11" name="Text 9"/>
          <p:cNvSpPr txBox="1"/>
          <p:nvPr/>
        </p:nvSpPr>
        <p:spPr>
          <a:xfrm>
            <a:off x="914400" y="3172968"/>
            <a:ext cx="4800600" cy="274320"/>
          </a:xfrm>
          <a:prstGeom prst="rect">
            <a:avLst/>
          </a:prstGeom>
          <a:noFill/>
          <a:ln/>
        </p:spPr>
        <p:txBody>
          <a:bodyPr wrap="square" lIns="0" tIns="0" rIns="0" bIns="0" rtlCol="0" anchor="ctr"/>
          <a:lstStyle/>
          <a:p>
            <a:pPr indent="0" marL="0">
              <a:buNone/>
            </a:pPr>
            <a:r>
              <a:rPr lang="en-US" sz="1450" b="1" dirty="0">
                <a:solidFill>
                  <a:srgbClr val="FD8F37"/>
                </a:solidFill>
                <a:latin typeface="Calibri" pitchFamily="34" charset="0"/>
                <a:ea typeface="Calibri" pitchFamily="34" charset="-122"/>
                <a:cs typeface="Calibri" pitchFamily="34" charset="-120"/>
              </a:rPr>
              <a:t>Files on disk, no database</a:t>
            </a:r>
            <a:endParaRPr lang="en-US" sz="1450" dirty="0"/>
          </a:p>
        </p:txBody>
      </p:sp>
      <p:sp>
        <p:nvSpPr>
          <p:cNvPr id="12" name="Text 10"/>
          <p:cNvSpPr txBox="1"/>
          <p:nvPr/>
        </p:nvSpPr>
        <p:spPr>
          <a:xfrm>
            <a:off x="914400" y="3520440"/>
            <a:ext cx="4800600" cy="731520"/>
          </a:xfrm>
          <a:prstGeom prst="rect">
            <a:avLst/>
          </a:prstGeom>
          <a:noFill/>
          <a:ln/>
        </p:spPr>
        <p:txBody>
          <a:bodyPr wrap="square" lIns="0" tIns="0" rIns="0" bIns="0" rtlCol="0" anchor="t"/>
          <a:lstStyle/>
          <a:p>
            <a:pPr indent="0" marL="0">
              <a:lnSpc>
                <a:spcPct val="115000"/>
              </a:lnSpc>
              <a:buNone/>
            </a:pPr>
            <a:r>
              <a:rPr lang="en-US" sz="1250" dirty="0">
                <a:solidFill>
                  <a:srgbClr val="8F949D"/>
                </a:solidFill>
                <a:latin typeface="Calibri" pitchFamily="34" charset="0"/>
                <a:ea typeface="Calibri" pitchFamily="34" charset="-122"/>
                <a:cs typeface="Calibri" pitchFamily="34" charset="-120"/>
              </a:rPr>
              <a:t>Every artifact is where Playwright's own tooling expects it, and a run survives a crash. Cost: one run at a time.</a:t>
            </a:r>
            <a:endParaRPr lang="en-US" sz="1250" dirty="0"/>
          </a:p>
        </p:txBody>
      </p:sp>
      <p:sp>
        <p:nvSpPr>
          <p:cNvPr id="13" name="Shape 11"/>
          <p:cNvSpPr/>
          <p:nvPr/>
        </p:nvSpPr>
        <p:spPr>
          <a:xfrm>
            <a:off x="6263640" y="2971800"/>
            <a:ext cx="5349240" cy="1371600"/>
          </a:xfrm>
          <a:prstGeom prst="roundRect">
            <a:avLst>
              <a:gd name="adj" fmla="val 5333"/>
            </a:avLst>
          </a:prstGeom>
          <a:solidFill>
            <a:srgbClr val="16181D"/>
          </a:solidFill>
          <a:ln w="12700">
            <a:solidFill>
              <a:srgbClr val="2F3239"/>
            </a:solidFill>
            <a:prstDash val="solid"/>
          </a:ln>
        </p:spPr>
      </p:sp>
      <p:sp>
        <p:nvSpPr>
          <p:cNvPr id="14" name="Text 12"/>
          <p:cNvSpPr txBox="1"/>
          <p:nvPr/>
        </p:nvSpPr>
        <p:spPr>
          <a:xfrm>
            <a:off x="6537960" y="3172968"/>
            <a:ext cx="4800600" cy="274320"/>
          </a:xfrm>
          <a:prstGeom prst="rect">
            <a:avLst/>
          </a:prstGeom>
          <a:noFill/>
          <a:ln/>
        </p:spPr>
        <p:txBody>
          <a:bodyPr wrap="square" lIns="0" tIns="0" rIns="0" bIns="0" rtlCol="0" anchor="ctr"/>
          <a:lstStyle/>
          <a:p>
            <a:pPr indent="0" marL="0">
              <a:buNone/>
            </a:pPr>
            <a:r>
              <a:rPr lang="en-US" sz="1450" b="1" dirty="0">
                <a:solidFill>
                  <a:srgbClr val="FD8F37"/>
                </a:solidFill>
                <a:latin typeface="Calibri" pitchFamily="34" charset="0"/>
                <a:ea typeface="Calibri" pitchFamily="34" charset="-122"/>
                <a:cs typeface="Calibri" pitchFamily="34" charset="-120"/>
              </a:rPr>
              <a:t>Quarantine over volume</a:t>
            </a:r>
            <a:endParaRPr lang="en-US" sz="1450" dirty="0"/>
          </a:p>
        </p:txBody>
      </p:sp>
      <p:sp>
        <p:nvSpPr>
          <p:cNvPr id="15" name="Text 13"/>
          <p:cNvSpPr txBox="1"/>
          <p:nvPr/>
        </p:nvSpPr>
        <p:spPr>
          <a:xfrm>
            <a:off x="6537960" y="3520440"/>
            <a:ext cx="4800600" cy="731520"/>
          </a:xfrm>
          <a:prstGeom prst="rect">
            <a:avLst/>
          </a:prstGeom>
          <a:noFill/>
          <a:ln/>
        </p:spPr>
        <p:txBody>
          <a:bodyPr wrap="square" lIns="0" tIns="0" rIns="0" bIns="0" rtlCol="0" anchor="t"/>
          <a:lstStyle/>
          <a:p>
            <a:pPr indent="0" marL="0">
              <a:lnSpc>
                <a:spcPct val="115000"/>
              </a:lnSpc>
              <a:buNone/>
            </a:pPr>
            <a:r>
              <a:rPr lang="en-US" sz="1250" dirty="0">
                <a:solidFill>
                  <a:srgbClr val="8F949D"/>
                </a:solidFill>
                <a:latin typeface="Calibri" pitchFamily="34" charset="0"/>
                <a:ea typeface="Calibri" pitchFamily="34" charset="-122"/>
                <a:cs typeface="Calibri" pitchFamily="34" charset="-120"/>
              </a:rPr>
              <a:t>Twelve proven tests and eight reasons beat forty tests of which thirty-eight are red. Cost: a smaller headline number.</a:t>
            </a:r>
            <a:endParaRPr lang="en-US" sz="1250" dirty="0"/>
          </a:p>
        </p:txBody>
      </p:sp>
      <p:sp>
        <p:nvSpPr>
          <p:cNvPr id="16" name="Shape 14"/>
          <p:cNvSpPr/>
          <p:nvPr/>
        </p:nvSpPr>
        <p:spPr>
          <a:xfrm>
            <a:off x="640080" y="4572000"/>
            <a:ext cx="5349240" cy="1371600"/>
          </a:xfrm>
          <a:prstGeom prst="roundRect">
            <a:avLst>
              <a:gd name="adj" fmla="val 5333"/>
            </a:avLst>
          </a:prstGeom>
          <a:solidFill>
            <a:srgbClr val="16181D"/>
          </a:solidFill>
          <a:ln w="12700">
            <a:solidFill>
              <a:srgbClr val="2F3239"/>
            </a:solidFill>
            <a:prstDash val="solid"/>
          </a:ln>
        </p:spPr>
      </p:sp>
      <p:sp>
        <p:nvSpPr>
          <p:cNvPr id="17" name="Text 15"/>
          <p:cNvSpPr txBox="1"/>
          <p:nvPr/>
        </p:nvSpPr>
        <p:spPr>
          <a:xfrm>
            <a:off x="914400" y="4773168"/>
            <a:ext cx="4800600" cy="274320"/>
          </a:xfrm>
          <a:prstGeom prst="rect">
            <a:avLst/>
          </a:prstGeom>
          <a:noFill/>
          <a:ln/>
        </p:spPr>
        <p:txBody>
          <a:bodyPr wrap="square" lIns="0" tIns="0" rIns="0" bIns="0" rtlCol="0" anchor="ctr"/>
          <a:lstStyle/>
          <a:p>
            <a:pPr indent="0" marL="0">
              <a:buNone/>
            </a:pPr>
            <a:r>
              <a:rPr lang="en-US" sz="1450" b="1" dirty="0">
                <a:solidFill>
                  <a:srgbClr val="FD8F37"/>
                </a:solidFill>
                <a:latin typeface="Calibri" pitchFamily="34" charset="0"/>
                <a:ea typeface="Calibri" pitchFamily="34" charset="-122"/>
                <a:cs typeface="Calibri" pitchFamily="34" charset="-120"/>
              </a:rPr>
              <a:t>Judgment in the FSM, labour in the agents</a:t>
            </a:r>
            <a:endParaRPr lang="en-US" sz="1450" dirty="0"/>
          </a:p>
        </p:txBody>
      </p:sp>
      <p:sp>
        <p:nvSpPr>
          <p:cNvPr id="18" name="Text 16"/>
          <p:cNvSpPr txBox="1"/>
          <p:nvPr/>
        </p:nvSpPr>
        <p:spPr>
          <a:xfrm>
            <a:off x="914400" y="5120640"/>
            <a:ext cx="4800600" cy="731520"/>
          </a:xfrm>
          <a:prstGeom prst="rect">
            <a:avLst/>
          </a:prstGeom>
          <a:noFill/>
          <a:ln/>
        </p:spPr>
        <p:txBody>
          <a:bodyPr wrap="square" lIns="0" tIns="0" rIns="0" bIns="0" rtlCol="0" anchor="t"/>
          <a:lstStyle/>
          <a:p>
            <a:pPr indent="0" marL="0">
              <a:lnSpc>
                <a:spcPct val="115000"/>
              </a:lnSpc>
              <a:buNone/>
            </a:pPr>
            <a:r>
              <a:rPr lang="en-US" sz="1250" dirty="0">
                <a:solidFill>
                  <a:srgbClr val="8F949D"/>
                </a:solidFill>
                <a:latin typeface="Calibri" pitchFamily="34" charset="0"/>
                <a:ea typeface="Calibri" pitchFamily="34" charset="-122"/>
                <a:cs typeface="Calibri" pitchFamily="34" charset="-120"/>
              </a:rPr>
              <a:t>Every branch is inspectable and unit-testable without a key. Cost: prompts cannot fix an orchestration bug.</a:t>
            </a:r>
            <a:endParaRPr lang="en-US" sz="1250" dirty="0"/>
          </a:p>
        </p:txBody>
      </p:sp>
      <p:sp>
        <p:nvSpPr>
          <p:cNvPr id="19" name="Shape 17"/>
          <p:cNvSpPr/>
          <p:nvPr/>
        </p:nvSpPr>
        <p:spPr>
          <a:xfrm>
            <a:off x="6263640" y="4572000"/>
            <a:ext cx="5349240" cy="1371600"/>
          </a:xfrm>
          <a:prstGeom prst="roundRect">
            <a:avLst>
              <a:gd name="adj" fmla="val 5333"/>
            </a:avLst>
          </a:prstGeom>
          <a:solidFill>
            <a:srgbClr val="16181D"/>
          </a:solidFill>
          <a:ln w="12700">
            <a:solidFill>
              <a:srgbClr val="2F3239"/>
            </a:solidFill>
            <a:prstDash val="solid"/>
          </a:ln>
        </p:spPr>
      </p:sp>
      <p:sp>
        <p:nvSpPr>
          <p:cNvPr id="20" name="Text 18"/>
          <p:cNvSpPr txBox="1"/>
          <p:nvPr/>
        </p:nvSpPr>
        <p:spPr>
          <a:xfrm>
            <a:off x="6537960" y="4773168"/>
            <a:ext cx="4800600" cy="274320"/>
          </a:xfrm>
          <a:prstGeom prst="rect">
            <a:avLst/>
          </a:prstGeom>
          <a:noFill/>
          <a:ln/>
        </p:spPr>
        <p:txBody>
          <a:bodyPr wrap="square" lIns="0" tIns="0" rIns="0" bIns="0" rtlCol="0" anchor="ctr"/>
          <a:lstStyle/>
          <a:p>
            <a:pPr indent="0" marL="0">
              <a:buNone/>
            </a:pPr>
            <a:r>
              <a:rPr lang="en-US" sz="1450" b="1" dirty="0">
                <a:solidFill>
                  <a:srgbClr val="FD8F37"/>
                </a:solidFill>
                <a:latin typeface="Calibri" pitchFamily="34" charset="0"/>
                <a:ea typeface="Calibri" pitchFamily="34" charset="-122"/>
                <a:cs typeface="Calibri" pitchFamily="34" charset="-120"/>
              </a:rPr>
              <a:t>A demo target we can break on command</a:t>
            </a:r>
            <a:endParaRPr lang="en-US" sz="1450" dirty="0"/>
          </a:p>
        </p:txBody>
      </p:sp>
      <p:sp>
        <p:nvSpPr>
          <p:cNvPr id="21" name="Text 19"/>
          <p:cNvSpPr txBox="1"/>
          <p:nvPr/>
        </p:nvSpPr>
        <p:spPr>
          <a:xfrm>
            <a:off x="6537960" y="5120640"/>
            <a:ext cx="4800600" cy="731520"/>
          </a:xfrm>
          <a:prstGeom prst="rect">
            <a:avLst/>
          </a:prstGeom>
          <a:noFill/>
          <a:ln/>
        </p:spPr>
        <p:txBody>
          <a:bodyPr wrap="square" lIns="0" tIns="0" rIns="0" bIns="0" rtlCol="0" anchor="t"/>
          <a:lstStyle/>
          <a:p>
            <a:pPr indent="0" marL="0">
              <a:lnSpc>
                <a:spcPct val="115000"/>
              </a:lnSpc>
              <a:buNone/>
            </a:pPr>
            <a:r>
              <a:rPr lang="en-US" sz="1250" dirty="0">
                <a:solidFill>
                  <a:srgbClr val="8F949D"/>
                </a:solidFill>
                <a:latin typeface="Calibri" pitchFamily="34" charset="0"/>
                <a:ea typeface="Calibri" pitchFamily="34" charset="-122"/>
                <a:cs typeface="Calibri" pitchFamily="34" charset="-120"/>
              </a:rPr>
              <a:t>A classifier is only demonstrable against a defect you introduce deliberately. Cost: it is our app, not theirs.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0A0E"/>
        </a:solidFill>
      </p:bgPr>
    </p:bg>
    <p:spTree>
      <p:nvGrpSpPr>
        <p:cNvPr id="1" name=""/>
        <p:cNvGrpSpPr/>
        <p:nvPr/>
      </p:nvGrpSpPr>
      <p:grpSpPr>
        <a:xfrm>
          <a:off x="0" y="0"/>
          <a:ext cx="0" cy="0"/>
          <a:chOff x="0" y="0"/>
          <a:chExt cx="0" cy="0"/>
        </a:xfrm>
      </p:grpSpPr>
      <p:sp>
        <p:nvSpPr>
          <p:cNvPr id="2" name="Text 0"/>
          <p:cNvSpPr txBox="1"/>
          <p:nvPr/>
        </p:nvSpPr>
        <p:spPr>
          <a:xfrm>
            <a:off x="640080" y="274320"/>
            <a:ext cx="10881360" cy="228600"/>
          </a:xfrm>
          <a:prstGeom prst="rect">
            <a:avLst/>
          </a:prstGeom>
          <a:noFill/>
          <a:ln/>
        </p:spPr>
        <p:txBody>
          <a:bodyPr wrap="square" lIns="0" tIns="0" rIns="0" bIns="0" rtlCol="0" anchor="ctr"/>
          <a:lstStyle/>
          <a:p>
            <a:pPr indent="0" marL="0">
              <a:buNone/>
            </a:pPr>
            <a:r>
              <a:rPr lang="en-US" sz="1100" b="1" spc="200" kern="0" dirty="0">
                <a:solidFill>
                  <a:srgbClr val="F06504"/>
                </a:solidFill>
                <a:latin typeface="Calibri" pitchFamily="34" charset="0"/>
                <a:ea typeface="Calibri" pitchFamily="34" charset="-122"/>
                <a:cs typeface="Calibri" pitchFamily="34" charset="-120"/>
              </a:rPr>
              <a:t>BUSINESS IMPACT</a:t>
            </a:r>
            <a:endParaRPr lang="en-US" sz="1100" dirty="0"/>
          </a:p>
        </p:txBody>
      </p:sp>
      <p:sp>
        <p:nvSpPr>
          <p:cNvPr id="3" name="Text 1"/>
          <p:cNvSpPr txBox="1"/>
          <p:nvPr/>
        </p:nvSpPr>
        <p:spPr>
          <a:xfrm>
            <a:off x="640080" y="502920"/>
            <a:ext cx="10881360" cy="868680"/>
          </a:xfrm>
          <a:prstGeom prst="rect">
            <a:avLst/>
          </a:prstGeom>
          <a:noFill/>
          <a:ln/>
        </p:spPr>
        <p:txBody>
          <a:bodyPr wrap="square" lIns="0" tIns="0" rIns="0" bIns="0" rtlCol="0" anchor="ctr"/>
          <a:lstStyle/>
          <a:p>
            <a:pPr algn="l" indent="0" marL="0">
              <a:buNone/>
            </a:pPr>
            <a:r>
              <a:rPr lang="en-US" sz="3400" b="1" dirty="0">
                <a:solidFill>
                  <a:srgbClr val="EBEDF0"/>
                </a:solidFill>
                <a:latin typeface="Cambria" pitchFamily="34" charset="0"/>
                <a:ea typeface="Cambria" pitchFamily="34" charset="-122"/>
                <a:cs typeface="Cambria" pitchFamily="34" charset="-120"/>
              </a:rPr>
              <a:t>What it replaces, and what it costs</a:t>
            </a:r>
            <a:endParaRPr lang="en-US" sz="3400" dirty="0"/>
          </a:p>
        </p:txBody>
      </p:sp>
      <p:sp>
        <p:nvSpPr>
          <p:cNvPr id="4" name="Shape 2"/>
          <p:cNvSpPr/>
          <p:nvPr/>
        </p:nvSpPr>
        <p:spPr>
          <a:xfrm>
            <a:off x="640080" y="1371600"/>
            <a:ext cx="2560320" cy="1371600"/>
          </a:xfrm>
          <a:prstGeom prst="roundRect">
            <a:avLst>
              <a:gd name="adj" fmla="val 5333"/>
            </a:avLst>
          </a:prstGeom>
          <a:solidFill>
            <a:srgbClr val="1E2026"/>
          </a:solidFill>
          <a:ln w="12700">
            <a:solidFill>
              <a:srgbClr val="2F3239"/>
            </a:solidFill>
            <a:prstDash val="solid"/>
          </a:ln>
        </p:spPr>
      </p:sp>
      <p:sp>
        <p:nvSpPr>
          <p:cNvPr id="5" name="Text 3"/>
          <p:cNvSpPr txBox="1"/>
          <p:nvPr/>
        </p:nvSpPr>
        <p:spPr>
          <a:xfrm>
            <a:off x="822960" y="1536192"/>
            <a:ext cx="2194560" cy="548640"/>
          </a:xfrm>
          <a:prstGeom prst="rect">
            <a:avLst/>
          </a:prstGeom>
          <a:noFill/>
          <a:ln/>
        </p:spPr>
        <p:txBody>
          <a:bodyPr wrap="square" lIns="0" tIns="0" rIns="0" bIns="0" rtlCol="0" anchor="ctr"/>
          <a:lstStyle/>
          <a:p>
            <a:pPr indent="0" marL="0">
              <a:buNone/>
            </a:pPr>
            <a:r>
              <a:rPr lang="en-US" sz="2700" b="1" dirty="0">
                <a:solidFill>
                  <a:srgbClr val="FD8F37"/>
                </a:solidFill>
                <a:latin typeface="Cambria" pitchFamily="34" charset="0"/>
                <a:ea typeface="Cambria" pitchFamily="34" charset="-122"/>
                <a:cs typeface="Cambria" pitchFamily="34" charset="-120"/>
              </a:rPr>
              <a:t>$0.16 – $0.35</a:t>
            </a:r>
            <a:endParaRPr lang="en-US" sz="2700" dirty="0"/>
          </a:p>
        </p:txBody>
      </p:sp>
      <p:sp>
        <p:nvSpPr>
          <p:cNvPr id="6" name="Text 4"/>
          <p:cNvSpPr txBox="1"/>
          <p:nvPr/>
        </p:nvSpPr>
        <p:spPr>
          <a:xfrm>
            <a:off x="822960" y="2121408"/>
            <a:ext cx="2194560" cy="548640"/>
          </a:xfrm>
          <a:prstGeom prst="rect">
            <a:avLst/>
          </a:prstGeom>
          <a:noFill/>
          <a:ln/>
        </p:spPr>
        <p:txBody>
          <a:bodyPr wrap="square" lIns="0" tIns="0" rIns="0" bIns="0" rtlCol="0" anchor="t"/>
          <a:lstStyle/>
          <a:p>
            <a:pPr indent="0" marL="0">
              <a:lnSpc>
                <a:spcPct val="115000"/>
              </a:lnSpc>
              <a:buNone/>
            </a:pPr>
            <a:r>
              <a:rPr lang="en-US" sz="1150" dirty="0">
                <a:solidFill>
                  <a:srgbClr val="8F949D"/>
                </a:solidFill>
                <a:latin typeface="Calibri" pitchFamily="34" charset="0"/>
                <a:ea typeface="Calibri" pitchFamily="34" charset="-122"/>
                <a:cs typeface="Calibri" pitchFamily="34" charset="-120"/>
              </a:rPr>
              <a:t>a measured run against a live target, end to end</a:t>
            </a:r>
            <a:endParaRPr lang="en-US" sz="1150" dirty="0"/>
          </a:p>
        </p:txBody>
      </p:sp>
      <p:sp>
        <p:nvSpPr>
          <p:cNvPr id="7" name="Shape 5"/>
          <p:cNvSpPr/>
          <p:nvPr/>
        </p:nvSpPr>
        <p:spPr>
          <a:xfrm>
            <a:off x="3383280" y="1371600"/>
            <a:ext cx="2560320" cy="1371600"/>
          </a:xfrm>
          <a:prstGeom prst="roundRect">
            <a:avLst>
              <a:gd name="adj" fmla="val 5333"/>
            </a:avLst>
          </a:prstGeom>
          <a:solidFill>
            <a:srgbClr val="1E2026"/>
          </a:solidFill>
          <a:ln w="12700">
            <a:solidFill>
              <a:srgbClr val="2F3239"/>
            </a:solidFill>
            <a:prstDash val="solid"/>
          </a:ln>
        </p:spPr>
      </p:sp>
      <p:sp>
        <p:nvSpPr>
          <p:cNvPr id="8" name="Text 6"/>
          <p:cNvSpPr txBox="1"/>
          <p:nvPr/>
        </p:nvSpPr>
        <p:spPr>
          <a:xfrm>
            <a:off x="3566160" y="1536192"/>
            <a:ext cx="2194560" cy="548640"/>
          </a:xfrm>
          <a:prstGeom prst="rect">
            <a:avLst/>
          </a:prstGeom>
          <a:noFill/>
          <a:ln/>
        </p:spPr>
        <p:txBody>
          <a:bodyPr wrap="square" lIns="0" tIns="0" rIns="0" bIns="0" rtlCol="0" anchor="ctr"/>
          <a:lstStyle/>
          <a:p>
            <a:pPr indent="0" marL="0">
              <a:buNone/>
            </a:pPr>
            <a:r>
              <a:rPr lang="en-US" sz="2700" b="1" dirty="0">
                <a:solidFill>
                  <a:srgbClr val="FD8F37"/>
                </a:solidFill>
                <a:latin typeface="Cambria" pitchFamily="34" charset="0"/>
                <a:ea typeface="Cambria" pitchFamily="34" charset="-122"/>
                <a:cs typeface="Cambria" pitchFamily="34" charset="-120"/>
              </a:rPr>
              <a:t>8 – 12 min</a:t>
            </a:r>
            <a:endParaRPr lang="en-US" sz="2700" dirty="0"/>
          </a:p>
        </p:txBody>
      </p:sp>
      <p:sp>
        <p:nvSpPr>
          <p:cNvPr id="9" name="Text 7"/>
          <p:cNvSpPr txBox="1"/>
          <p:nvPr/>
        </p:nvSpPr>
        <p:spPr>
          <a:xfrm>
            <a:off x="3566160" y="2121408"/>
            <a:ext cx="2194560" cy="548640"/>
          </a:xfrm>
          <a:prstGeom prst="rect">
            <a:avLst/>
          </a:prstGeom>
          <a:noFill/>
          <a:ln/>
        </p:spPr>
        <p:txBody>
          <a:bodyPr wrap="square" lIns="0" tIns="0" rIns="0" bIns="0" rtlCol="0" anchor="t"/>
          <a:lstStyle/>
          <a:p>
            <a:pPr indent="0" marL="0">
              <a:lnSpc>
                <a:spcPct val="115000"/>
              </a:lnSpc>
              <a:buNone/>
            </a:pPr>
            <a:r>
              <a:rPr lang="en-US" sz="1150" dirty="0">
                <a:solidFill>
                  <a:srgbClr val="8F949D"/>
                </a:solidFill>
                <a:latin typeface="Calibri" pitchFamily="34" charset="0"/>
                <a:ea typeface="Calibri" pitchFamily="34" charset="-122"/>
                <a:cs typeface="Calibri" pitchFamily="34" charset="-120"/>
              </a:rPr>
              <a:t>URL in, suite and report out, unattended</a:t>
            </a:r>
            <a:endParaRPr lang="en-US" sz="1150" dirty="0"/>
          </a:p>
        </p:txBody>
      </p:sp>
      <p:sp>
        <p:nvSpPr>
          <p:cNvPr id="10" name="Shape 8"/>
          <p:cNvSpPr/>
          <p:nvPr/>
        </p:nvSpPr>
        <p:spPr>
          <a:xfrm>
            <a:off x="6126480" y="1371600"/>
            <a:ext cx="2560320" cy="1371600"/>
          </a:xfrm>
          <a:prstGeom prst="roundRect">
            <a:avLst>
              <a:gd name="adj" fmla="val 5333"/>
            </a:avLst>
          </a:prstGeom>
          <a:solidFill>
            <a:srgbClr val="1E2026"/>
          </a:solidFill>
          <a:ln w="12700">
            <a:solidFill>
              <a:srgbClr val="2F3239"/>
            </a:solidFill>
            <a:prstDash val="solid"/>
          </a:ln>
        </p:spPr>
      </p:sp>
      <p:sp>
        <p:nvSpPr>
          <p:cNvPr id="11" name="Text 9"/>
          <p:cNvSpPr txBox="1"/>
          <p:nvPr/>
        </p:nvSpPr>
        <p:spPr>
          <a:xfrm>
            <a:off x="6309360" y="1536192"/>
            <a:ext cx="2194560" cy="548640"/>
          </a:xfrm>
          <a:prstGeom prst="rect">
            <a:avLst/>
          </a:prstGeom>
          <a:noFill/>
          <a:ln/>
        </p:spPr>
        <p:txBody>
          <a:bodyPr wrap="square" lIns="0" tIns="0" rIns="0" bIns="0" rtlCol="0" anchor="ctr"/>
          <a:lstStyle/>
          <a:p>
            <a:pPr indent="0" marL="0">
              <a:buNone/>
            </a:pPr>
            <a:r>
              <a:rPr lang="en-US" sz="2700" b="1" dirty="0">
                <a:solidFill>
                  <a:srgbClr val="FD8F37"/>
                </a:solidFill>
                <a:latin typeface="Cambria" pitchFamily="34" charset="0"/>
                <a:ea typeface="Cambria" pitchFamily="34" charset="-122"/>
                <a:cs typeface="Cambria" pitchFamily="34" charset="-120"/>
              </a:rPr>
              <a:t>0</a:t>
            </a:r>
            <a:endParaRPr lang="en-US" sz="2700" dirty="0"/>
          </a:p>
        </p:txBody>
      </p:sp>
      <p:sp>
        <p:nvSpPr>
          <p:cNvPr id="12" name="Text 10"/>
          <p:cNvSpPr txBox="1"/>
          <p:nvPr/>
        </p:nvSpPr>
        <p:spPr>
          <a:xfrm>
            <a:off x="6309360" y="2121408"/>
            <a:ext cx="2194560" cy="548640"/>
          </a:xfrm>
          <a:prstGeom prst="rect">
            <a:avLst/>
          </a:prstGeom>
          <a:noFill/>
          <a:ln/>
        </p:spPr>
        <p:txBody>
          <a:bodyPr wrap="square" lIns="0" tIns="0" rIns="0" bIns="0" rtlCol="0" anchor="t"/>
          <a:lstStyle/>
          <a:p>
            <a:pPr indent="0" marL="0">
              <a:lnSpc>
                <a:spcPct val="115000"/>
              </a:lnSpc>
              <a:buNone/>
            </a:pPr>
            <a:r>
              <a:rPr lang="en-US" sz="1150" dirty="0">
                <a:solidFill>
                  <a:srgbClr val="8F949D"/>
                </a:solidFill>
                <a:latin typeface="Calibri" pitchFamily="34" charset="0"/>
                <a:ea typeface="Calibri" pitchFamily="34" charset="-122"/>
                <a:cs typeface="Calibri" pitchFamily="34" charset="-120"/>
              </a:rPr>
              <a:t>human approval gates between stages</a:t>
            </a:r>
            <a:endParaRPr lang="en-US" sz="1150" dirty="0"/>
          </a:p>
        </p:txBody>
      </p:sp>
      <p:sp>
        <p:nvSpPr>
          <p:cNvPr id="13" name="Shape 11"/>
          <p:cNvSpPr/>
          <p:nvPr/>
        </p:nvSpPr>
        <p:spPr>
          <a:xfrm>
            <a:off x="8869680" y="1371600"/>
            <a:ext cx="2560320" cy="1371600"/>
          </a:xfrm>
          <a:prstGeom prst="roundRect">
            <a:avLst>
              <a:gd name="adj" fmla="val 5333"/>
            </a:avLst>
          </a:prstGeom>
          <a:solidFill>
            <a:srgbClr val="1E2026"/>
          </a:solidFill>
          <a:ln w="12700">
            <a:solidFill>
              <a:srgbClr val="2F3239"/>
            </a:solidFill>
            <a:prstDash val="solid"/>
          </a:ln>
        </p:spPr>
      </p:sp>
      <p:sp>
        <p:nvSpPr>
          <p:cNvPr id="14" name="Text 12"/>
          <p:cNvSpPr txBox="1"/>
          <p:nvPr/>
        </p:nvSpPr>
        <p:spPr>
          <a:xfrm>
            <a:off x="9052560" y="1536192"/>
            <a:ext cx="2194560" cy="548640"/>
          </a:xfrm>
          <a:prstGeom prst="rect">
            <a:avLst/>
          </a:prstGeom>
          <a:noFill/>
          <a:ln/>
        </p:spPr>
        <p:txBody>
          <a:bodyPr wrap="square" lIns="0" tIns="0" rIns="0" bIns="0" rtlCol="0" anchor="ctr"/>
          <a:lstStyle/>
          <a:p>
            <a:pPr indent="0" marL="0">
              <a:buNone/>
            </a:pPr>
            <a:r>
              <a:rPr lang="en-US" sz="2700" b="1" dirty="0">
                <a:solidFill>
                  <a:srgbClr val="FD8F37"/>
                </a:solidFill>
                <a:latin typeface="Cambria" pitchFamily="34" charset="0"/>
                <a:ea typeface="Cambria" pitchFamily="34" charset="-122"/>
                <a:cs typeface="Cambria" pitchFamily="34" charset="-120"/>
              </a:rPr>
              <a:t>100%</a:t>
            </a:r>
            <a:endParaRPr lang="en-US" sz="2700" dirty="0"/>
          </a:p>
        </p:txBody>
      </p:sp>
      <p:sp>
        <p:nvSpPr>
          <p:cNvPr id="15" name="Text 13"/>
          <p:cNvSpPr txBox="1"/>
          <p:nvPr/>
        </p:nvSpPr>
        <p:spPr>
          <a:xfrm>
            <a:off x="9052560" y="2121408"/>
            <a:ext cx="2194560" cy="548640"/>
          </a:xfrm>
          <a:prstGeom prst="rect">
            <a:avLst/>
          </a:prstGeom>
          <a:noFill/>
          <a:ln/>
        </p:spPr>
        <p:txBody>
          <a:bodyPr wrap="square" lIns="0" tIns="0" rIns="0" bIns="0" rtlCol="0" anchor="t"/>
          <a:lstStyle/>
          <a:p>
            <a:pPr indent="0" marL="0">
              <a:lnSpc>
                <a:spcPct val="115000"/>
              </a:lnSpc>
              <a:buNone/>
            </a:pPr>
            <a:r>
              <a:rPr lang="en-US" sz="1150" dirty="0">
                <a:solidFill>
                  <a:srgbClr val="8F949D"/>
                </a:solidFill>
                <a:latin typeface="Calibri" pitchFamily="34" charset="0"/>
                <a:ea typeface="Calibri" pitchFamily="34" charset="-122"/>
                <a:cs typeface="Calibri" pitchFamily="34" charset="-120"/>
              </a:rPr>
              <a:t>of test code produced by the pipeline</a:t>
            </a:r>
            <a:endParaRPr lang="en-US" sz="1150" dirty="0"/>
          </a:p>
        </p:txBody>
      </p:sp>
      <p:sp>
        <p:nvSpPr>
          <p:cNvPr id="16" name="Shape 14"/>
          <p:cNvSpPr/>
          <p:nvPr/>
        </p:nvSpPr>
        <p:spPr>
          <a:xfrm>
            <a:off x="640080" y="3017520"/>
            <a:ext cx="5349240" cy="3017520"/>
          </a:xfrm>
          <a:prstGeom prst="roundRect">
            <a:avLst>
              <a:gd name="adj" fmla="val 2424"/>
            </a:avLst>
          </a:prstGeom>
          <a:solidFill>
            <a:srgbClr val="16181D"/>
          </a:solidFill>
          <a:ln w="12700">
            <a:solidFill>
              <a:srgbClr val="2F3239"/>
            </a:solidFill>
            <a:prstDash val="solid"/>
          </a:ln>
        </p:spPr>
      </p:sp>
      <p:sp>
        <p:nvSpPr>
          <p:cNvPr id="17" name="Text 15"/>
          <p:cNvSpPr txBox="1"/>
          <p:nvPr/>
        </p:nvSpPr>
        <p:spPr>
          <a:xfrm>
            <a:off x="914400" y="3246120"/>
            <a:ext cx="4754880" cy="320040"/>
          </a:xfrm>
          <a:prstGeom prst="rect">
            <a:avLst/>
          </a:prstGeom>
          <a:noFill/>
          <a:ln/>
        </p:spPr>
        <p:txBody>
          <a:bodyPr wrap="square" lIns="0" tIns="0" rIns="0" bIns="0" rtlCol="0" anchor="ctr"/>
          <a:lstStyle/>
          <a:p>
            <a:pPr indent="0" marL="0">
              <a:buNone/>
            </a:pPr>
            <a:r>
              <a:rPr lang="en-US" sz="1600" b="1" dirty="0">
                <a:solidFill>
                  <a:srgbClr val="EBEDF0"/>
                </a:solidFill>
                <a:latin typeface="Calibri" pitchFamily="34" charset="0"/>
                <a:ea typeface="Calibri" pitchFamily="34" charset="-122"/>
                <a:cs typeface="Calibri" pitchFamily="34" charset="-120"/>
              </a:rPr>
              <a:t>Where the hours actually go</a:t>
            </a:r>
            <a:endParaRPr lang="en-US" sz="1600" dirty="0"/>
          </a:p>
        </p:txBody>
      </p:sp>
      <p:sp>
        <p:nvSpPr>
          <p:cNvPr id="18" name="Text 16"/>
          <p:cNvSpPr txBox="1"/>
          <p:nvPr/>
        </p:nvSpPr>
        <p:spPr>
          <a:xfrm>
            <a:off x="914400" y="3657600"/>
            <a:ext cx="4800600" cy="2194560"/>
          </a:xfrm>
          <a:prstGeom prst="rect">
            <a:avLst/>
          </a:prstGeom>
          <a:noFill/>
          <a:ln/>
        </p:spPr>
        <p:txBody>
          <a:bodyPr wrap="square" lIns="0" tIns="0" rIns="0" bIns="0" rtlCol="0" anchor="t"/>
          <a:lstStyle/>
          <a:p>
            <a:pPr indent="0" marL="0">
              <a:lnSpc>
                <a:spcPct val="115000"/>
              </a:lnSpc>
              <a:buNone/>
            </a:pPr>
            <a:r>
              <a:rPr lang="en-US" sz="1300" dirty="0">
                <a:solidFill>
                  <a:srgbClr val="D1D4D9"/>
                </a:solidFill>
                <a:latin typeface="Calibri" pitchFamily="34" charset="0"/>
                <a:ea typeface="Calibri" pitchFamily="34" charset="-122"/>
                <a:cs typeface="Calibri" pitchFamily="34" charset="-120"/>
              </a:rPr>
              <a:t>Authoring an equivalent four-scenario suite with selectors proven against a live application is most of a day for one engineer. Keeping it green as the UI drifts is the recurring cost, and it is the one that quietly kills suites: a locator renamed on Tuesday is a red build on Wednesday and a deleted test on Friday.</a:t>
            </a:r>
            <a:endParaRPr lang="en-US" sz="1300" dirty="0"/>
          </a:p>
          <a:p>
            <a:pPr indent="0" marL="0">
              <a:lnSpc>
                <a:spcPct val="115000"/>
              </a:lnSpc>
              <a:buNone/>
            </a:pPr>
            <a:endParaRPr lang="en-US" sz="1300" dirty="0"/>
          </a:p>
          <a:p>
            <a:pPr indent="0" marL="0">
              <a:lnSpc>
                <a:spcPct val="115000"/>
              </a:lnSpc>
              <a:buNone/>
            </a:pPr>
            <a:r>
              <a:rPr lang="en-US" sz="1300" dirty="0">
                <a:solidFill>
                  <a:srgbClr val="D1D4D9"/>
                </a:solidFill>
                <a:latin typeface="Calibri" pitchFamily="34" charset="0"/>
                <a:ea typeface="Calibri" pitchFamily="34" charset="-122"/>
                <a:cs typeface="Calibri" pitchFamily="34" charset="-120"/>
              </a:rPr>
              <a:t>This repairs drift automatically, refuses to repair a genuine defect, and says which it did.</a:t>
            </a:r>
            <a:endParaRPr lang="en-US" sz="1300" dirty="0"/>
          </a:p>
        </p:txBody>
      </p:sp>
      <p:sp>
        <p:nvSpPr>
          <p:cNvPr id="19" name="Shape 17"/>
          <p:cNvSpPr/>
          <p:nvPr/>
        </p:nvSpPr>
        <p:spPr>
          <a:xfrm>
            <a:off x="6263640" y="3017520"/>
            <a:ext cx="5257800" cy="3017520"/>
          </a:xfrm>
          <a:prstGeom prst="roundRect">
            <a:avLst>
              <a:gd name="adj" fmla="val 2424"/>
            </a:avLst>
          </a:prstGeom>
          <a:solidFill>
            <a:srgbClr val="1E2026"/>
          </a:solidFill>
          <a:ln w="12700">
            <a:solidFill>
              <a:srgbClr val="F06504"/>
            </a:solidFill>
            <a:prstDash val="solid"/>
          </a:ln>
        </p:spPr>
      </p:sp>
      <p:sp>
        <p:nvSpPr>
          <p:cNvPr id="20" name="Text 18"/>
          <p:cNvSpPr txBox="1"/>
          <p:nvPr/>
        </p:nvSpPr>
        <p:spPr>
          <a:xfrm>
            <a:off x="6537960" y="3246120"/>
            <a:ext cx="4709160" cy="320040"/>
          </a:xfrm>
          <a:prstGeom prst="rect">
            <a:avLst/>
          </a:prstGeom>
          <a:noFill/>
          <a:ln/>
        </p:spPr>
        <p:txBody>
          <a:bodyPr wrap="square" lIns="0" tIns="0" rIns="0" bIns="0" rtlCol="0" anchor="ctr"/>
          <a:lstStyle/>
          <a:p>
            <a:pPr indent="0" marL="0">
              <a:buNone/>
            </a:pPr>
            <a:r>
              <a:rPr lang="en-US" sz="1600" b="1" dirty="0">
                <a:solidFill>
                  <a:srgbClr val="EBEDF0"/>
                </a:solidFill>
                <a:latin typeface="Calibri" pitchFamily="34" charset="0"/>
                <a:ea typeface="Calibri" pitchFamily="34" charset="-122"/>
                <a:cs typeface="Calibri" pitchFamily="34" charset="-120"/>
              </a:rPr>
              <a:t>The line a QA lead cares about</a:t>
            </a:r>
            <a:endParaRPr lang="en-US" sz="1600" dirty="0"/>
          </a:p>
        </p:txBody>
      </p:sp>
      <p:sp>
        <p:nvSpPr>
          <p:cNvPr id="21" name="Text 19"/>
          <p:cNvSpPr txBox="1"/>
          <p:nvPr/>
        </p:nvSpPr>
        <p:spPr>
          <a:xfrm>
            <a:off x="6537960" y="3657600"/>
            <a:ext cx="4709160" cy="1188720"/>
          </a:xfrm>
          <a:prstGeom prst="rect">
            <a:avLst/>
          </a:prstGeom>
          <a:noFill/>
          <a:ln/>
        </p:spPr>
        <p:txBody>
          <a:bodyPr wrap="square" lIns="0" tIns="0" rIns="0" bIns="0" rtlCol="0" anchor="t"/>
          <a:lstStyle/>
          <a:p>
            <a:pPr indent="0" marL="0">
              <a:lnSpc>
                <a:spcPct val="115000"/>
              </a:lnSpc>
              <a:buNone/>
            </a:pPr>
            <a:r>
              <a:rPr lang="en-US" sz="1400" i="1" dirty="0">
                <a:solidFill>
                  <a:srgbClr val="FD8F37"/>
                </a:solidFill>
                <a:latin typeface="Calibri" pitchFamily="34" charset="0"/>
                <a:ea typeface="Calibri" pitchFamily="34" charset="-122"/>
                <a:cs typeface="Calibri" pitchFamily="34" charset="-120"/>
              </a:rPr>
              <a:t>“/forgot-password — 78/100, critical. Touches credentials. Named in your PRD. One segment from the landing page. The plan covers it and no test ever ran.”</a:t>
            </a:r>
            <a:endParaRPr lang="en-US" sz="1400" dirty="0"/>
          </a:p>
        </p:txBody>
      </p:sp>
      <p:sp>
        <p:nvSpPr>
          <p:cNvPr id="22" name="Text 20"/>
          <p:cNvSpPr txBox="1"/>
          <p:nvPr/>
        </p:nvSpPr>
        <p:spPr>
          <a:xfrm>
            <a:off x="6537960" y="4892040"/>
            <a:ext cx="4709160" cy="1005840"/>
          </a:xfrm>
          <a:prstGeom prst="rect">
            <a:avLst/>
          </a:prstGeom>
          <a:noFill/>
          <a:ln/>
        </p:spPr>
        <p:txBody>
          <a:bodyPr wrap="square" lIns="0" tIns="0" rIns="0" bIns="0" rtlCol="0" anchor="t"/>
          <a:lstStyle/>
          <a:p>
            <a:pPr indent="0" marL="0">
              <a:lnSpc>
                <a:spcPct val="115000"/>
              </a:lnSpc>
              <a:buNone/>
            </a:pPr>
            <a:r>
              <a:rPr lang="en-US" sz="1300" dirty="0">
                <a:solidFill>
                  <a:srgbClr val="D1D4D9"/>
                </a:solidFill>
                <a:latin typeface="Calibri" pitchFamily="34" charset="0"/>
                <a:ea typeface="Calibri" pitchFamily="34" charset="-122"/>
                <a:cs typeface="Calibri" pitchFamily="34" charset="-120"/>
              </a:rPr>
              <a:t>No coverage tool says this today. Percentage coverage tells you what you touched; it never tells you what the gap is worth. That sentence is what turns a report into a decision about where to spend the next hour.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90A0E"/>
        </a:solidFill>
      </p:bgPr>
    </p:bg>
    <p:spTree>
      <p:nvGrpSpPr>
        <p:cNvPr id="1" name=""/>
        <p:cNvGrpSpPr/>
        <p:nvPr/>
      </p:nvGrpSpPr>
      <p:grpSpPr>
        <a:xfrm>
          <a:off x="0" y="0"/>
          <a:ext cx="0" cy="0"/>
          <a:chOff x="0" y="0"/>
          <a:chExt cx="0" cy="0"/>
        </a:xfrm>
      </p:grpSpPr>
      <p:sp>
        <p:nvSpPr>
          <p:cNvPr id="2" name="Text 0"/>
          <p:cNvSpPr txBox="1"/>
          <p:nvPr/>
        </p:nvSpPr>
        <p:spPr>
          <a:xfrm>
            <a:off x="640080" y="274320"/>
            <a:ext cx="10881360" cy="228600"/>
          </a:xfrm>
          <a:prstGeom prst="rect">
            <a:avLst/>
          </a:prstGeom>
          <a:noFill/>
          <a:ln/>
        </p:spPr>
        <p:txBody>
          <a:bodyPr wrap="square" lIns="0" tIns="0" rIns="0" bIns="0" rtlCol="0" anchor="ctr"/>
          <a:lstStyle/>
          <a:p>
            <a:pPr indent="0" marL="0">
              <a:buNone/>
            </a:pPr>
            <a:r>
              <a:rPr lang="en-US" sz="1100" b="1" spc="200" kern="0" dirty="0">
                <a:solidFill>
                  <a:srgbClr val="F06504"/>
                </a:solidFill>
                <a:latin typeface="Calibri" pitchFamily="34" charset="0"/>
                <a:ea typeface="Calibri" pitchFamily="34" charset="-122"/>
                <a:cs typeface="Calibri" pitchFamily="34" charset="-120"/>
              </a:rPr>
              <a:t>WHAT IS NOT FINISHED</a:t>
            </a:r>
            <a:endParaRPr lang="en-US" sz="1100" dirty="0"/>
          </a:p>
        </p:txBody>
      </p:sp>
      <p:sp>
        <p:nvSpPr>
          <p:cNvPr id="3" name="Text 1"/>
          <p:cNvSpPr txBox="1"/>
          <p:nvPr/>
        </p:nvSpPr>
        <p:spPr>
          <a:xfrm>
            <a:off x="640080" y="502920"/>
            <a:ext cx="10881360" cy="868680"/>
          </a:xfrm>
          <a:prstGeom prst="rect">
            <a:avLst/>
          </a:prstGeom>
          <a:noFill/>
          <a:ln/>
        </p:spPr>
        <p:txBody>
          <a:bodyPr wrap="square" lIns="0" tIns="0" rIns="0" bIns="0" rtlCol="0" anchor="ctr"/>
          <a:lstStyle/>
          <a:p>
            <a:pPr algn="l" indent="0" marL="0">
              <a:buNone/>
            </a:pPr>
            <a:r>
              <a:rPr lang="en-US" sz="3400" b="1" dirty="0">
                <a:solidFill>
                  <a:srgbClr val="EBEDF0"/>
                </a:solidFill>
                <a:latin typeface="Cambria" pitchFamily="34" charset="0"/>
                <a:ea typeface="Cambria" pitchFamily="34" charset="-122"/>
                <a:cs typeface="Cambria" pitchFamily="34" charset="-120"/>
              </a:rPr>
              <a:t>Stated, rather than implied away</a:t>
            </a:r>
            <a:endParaRPr lang="en-US" sz="3400" dirty="0"/>
          </a:p>
        </p:txBody>
      </p:sp>
      <p:sp>
        <p:nvSpPr>
          <p:cNvPr id="4" name="Shape 2"/>
          <p:cNvSpPr/>
          <p:nvPr/>
        </p:nvSpPr>
        <p:spPr>
          <a:xfrm>
            <a:off x="640080" y="1463040"/>
            <a:ext cx="10881360" cy="1298448"/>
          </a:xfrm>
          <a:prstGeom prst="roundRect">
            <a:avLst>
              <a:gd name="adj" fmla="val 5634"/>
            </a:avLst>
          </a:prstGeom>
          <a:solidFill>
            <a:srgbClr val="16181D"/>
          </a:solidFill>
          <a:ln w="12700">
            <a:solidFill>
              <a:srgbClr val="2F3239"/>
            </a:solidFill>
            <a:prstDash val="solid"/>
          </a:ln>
        </p:spPr>
      </p:sp>
      <p:sp>
        <p:nvSpPr>
          <p:cNvPr id="5" name="Text 3"/>
          <p:cNvSpPr txBox="1"/>
          <p:nvPr/>
        </p:nvSpPr>
        <p:spPr>
          <a:xfrm>
            <a:off x="960120" y="1645920"/>
            <a:ext cx="10241280" cy="292608"/>
          </a:xfrm>
          <a:prstGeom prst="rect">
            <a:avLst/>
          </a:prstGeom>
          <a:noFill/>
          <a:ln/>
        </p:spPr>
        <p:txBody>
          <a:bodyPr wrap="square" lIns="0" tIns="0" rIns="0" bIns="0" rtlCol="0" anchor="ctr"/>
          <a:lstStyle/>
          <a:p>
            <a:pPr indent="0" marL="0">
              <a:buNone/>
            </a:pPr>
            <a:r>
              <a:rPr lang="en-US" sz="1500" b="1" dirty="0">
                <a:solidFill>
                  <a:srgbClr val="ECA929"/>
                </a:solidFill>
                <a:latin typeface="Calibri" pitchFamily="34" charset="0"/>
                <a:ea typeface="Calibri" pitchFamily="34" charset="-122"/>
                <a:cs typeface="Calibri" pitchFamily="34" charset="-120"/>
              </a:rPr>
              <a:t>The storage-state hand-off carries the agents' own side effects into the suite.</a:t>
            </a:r>
            <a:endParaRPr lang="en-US" sz="1500" dirty="0"/>
          </a:p>
        </p:txBody>
      </p:sp>
      <p:sp>
        <p:nvSpPr>
          <p:cNvPr id="6" name="Text 4"/>
          <p:cNvSpPr txBox="1"/>
          <p:nvPr/>
        </p:nvSpPr>
        <p:spPr>
          <a:xfrm>
            <a:off x="960120" y="1993392"/>
            <a:ext cx="10241280" cy="640080"/>
          </a:xfrm>
          <a:prstGeom prst="rect">
            <a:avLst/>
          </a:prstGeom>
          <a:noFill/>
          <a:ln/>
        </p:spPr>
        <p:txBody>
          <a:bodyPr wrap="square" lIns="0" tIns="0" rIns="0" bIns="0" rtlCol="0" anchor="t"/>
          <a:lstStyle/>
          <a:p>
            <a:pPr indent="0" marL="0">
              <a:lnSpc>
                <a:spcPct val="115000"/>
              </a:lnSpc>
              <a:buNone/>
            </a:pPr>
            <a:r>
              <a:rPr lang="en-US" sz="1300" dirty="0">
                <a:solidFill>
                  <a:srgbClr val="8F949D"/>
                </a:solidFill>
                <a:latin typeface="Calibri" pitchFamily="34" charset="0"/>
                <a:ea typeface="Calibri" pitchFamily="34" charset="-122"/>
                <a:cs typeface="Calibri" pitchFamily="34" charset="-120"/>
              </a:rPr>
              <a:t>If Recon creates a record while crawling, the suite starts with it present. ShopLite shows what an immune application looks like — its basket lives in sessionStorage — which routes around the problem rather than solving it.</a:t>
            </a:r>
            <a:endParaRPr lang="en-US" sz="1300" dirty="0"/>
          </a:p>
        </p:txBody>
      </p:sp>
      <p:sp>
        <p:nvSpPr>
          <p:cNvPr id="7" name="Shape 5"/>
          <p:cNvSpPr/>
          <p:nvPr/>
        </p:nvSpPr>
        <p:spPr>
          <a:xfrm>
            <a:off x="640080" y="2971800"/>
            <a:ext cx="10881360" cy="1298448"/>
          </a:xfrm>
          <a:prstGeom prst="roundRect">
            <a:avLst>
              <a:gd name="adj" fmla="val 5634"/>
            </a:avLst>
          </a:prstGeom>
          <a:solidFill>
            <a:srgbClr val="16181D"/>
          </a:solidFill>
          <a:ln w="12700">
            <a:solidFill>
              <a:srgbClr val="2F3239"/>
            </a:solidFill>
            <a:prstDash val="solid"/>
          </a:ln>
        </p:spPr>
      </p:sp>
      <p:sp>
        <p:nvSpPr>
          <p:cNvPr id="8" name="Text 6"/>
          <p:cNvSpPr txBox="1"/>
          <p:nvPr/>
        </p:nvSpPr>
        <p:spPr>
          <a:xfrm>
            <a:off x="960120" y="3154680"/>
            <a:ext cx="10241280" cy="292608"/>
          </a:xfrm>
          <a:prstGeom prst="rect">
            <a:avLst/>
          </a:prstGeom>
          <a:noFill/>
          <a:ln/>
        </p:spPr>
        <p:txBody>
          <a:bodyPr wrap="square" lIns="0" tIns="0" rIns="0" bIns="0" rtlCol="0" anchor="ctr"/>
          <a:lstStyle/>
          <a:p>
            <a:pPr indent="0" marL="0">
              <a:buNone/>
            </a:pPr>
            <a:r>
              <a:rPr lang="en-US" sz="1500" b="1" dirty="0">
                <a:solidFill>
                  <a:srgbClr val="ECA929"/>
                </a:solidFill>
                <a:latin typeface="Calibri" pitchFamily="34" charset="0"/>
                <a:ea typeface="Calibri" pitchFamily="34" charset="-122"/>
                <a:cs typeface="Calibri" pitchFamily="34" charset="-120"/>
              </a:rPr>
              <a:t>The classifier cannot know which session the suite ran with.</a:t>
            </a:r>
            <a:endParaRPr lang="en-US" sz="1500" dirty="0"/>
          </a:p>
        </p:txBody>
      </p:sp>
      <p:sp>
        <p:nvSpPr>
          <p:cNvPr id="9" name="Text 7"/>
          <p:cNvSpPr txBox="1"/>
          <p:nvPr/>
        </p:nvSpPr>
        <p:spPr>
          <a:xfrm>
            <a:off x="960120" y="3502152"/>
            <a:ext cx="10241280" cy="640080"/>
          </a:xfrm>
          <a:prstGeom prst="rect">
            <a:avLst/>
          </a:prstGeom>
          <a:noFill/>
          <a:ln/>
        </p:spPr>
        <p:txBody>
          <a:bodyPr wrap="square" lIns="0" tIns="0" rIns="0" bIns="0" rtlCol="0" anchor="t"/>
          <a:lstStyle/>
          <a:p>
            <a:pPr indent="0" marL="0">
              <a:lnSpc>
                <a:spcPct val="115000"/>
              </a:lnSpc>
              <a:buNone/>
            </a:pPr>
            <a:r>
              <a:rPr lang="en-US" sz="1300" dirty="0">
                <a:solidFill>
                  <a:srgbClr val="8F949D"/>
                </a:solidFill>
                <a:latin typeface="Calibri" pitchFamily="34" charset="0"/>
                <a:ea typeface="Calibri" pitchFamily="34" charset="-122"/>
                <a:cs typeface="Calibri" pitchFamily="34" charset="-120"/>
              </a:rPr>
              <a:t>A failure caused by an unexpected storage state is harder for it to attribute than one caused by a 500.</a:t>
            </a:r>
            <a:endParaRPr lang="en-US" sz="1300" dirty="0"/>
          </a:p>
        </p:txBody>
      </p:sp>
      <p:sp>
        <p:nvSpPr>
          <p:cNvPr id="10" name="Shape 8"/>
          <p:cNvSpPr/>
          <p:nvPr/>
        </p:nvSpPr>
        <p:spPr>
          <a:xfrm>
            <a:off x="640080" y="4480560"/>
            <a:ext cx="10881360" cy="1298448"/>
          </a:xfrm>
          <a:prstGeom prst="roundRect">
            <a:avLst>
              <a:gd name="adj" fmla="val 5634"/>
            </a:avLst>
          </a:prstGeom>
          <a:solidFill>
            <a:srgbClr val="16181D"/>
          </a:solidFill>
          <a:ln w="12700">
            <a:solidFill>
              <a:srgbClr val="2F3239"/>
            </a:solidFill>
            <a:prstDash val="solid"/>
          </a:ln>
        </p:spPr>
      </p:sp>
      <p:sp>
        <p:nvSpPr>
          <p:cNvPr id="11" name="Text 9"/>
          <p:cNvSpPr txBox="1"/>
          <p:nvPr/>
        </p:nvSpPr>
        <p:spPr>
          <a:xfrm>
            <a:off x="960120" y="4663440"/>
            <a:ext cx="10241280" cy="292608"/>
          </a:xfrm>
          <a:prstGeom prst="rect">
            <a:avLst/>
          </a:prstGeom>
          <a:noFill/>
          <a:ln/>
        </p:spPr>
        <p:txBody>
          <a:bodyPr wrap="square" lIns="0" tIns="0" rIns="0" bIns="0" rtlCol="0" anchor="ctr"/>
          <a:lstStyle/>
          <a:p>
            <a:pPr indent="0" marL="0">
              <a:buNone/>
            </a:pPr>
            <a:r>
              <a:rPr lang="en-US" sz="1500" b="1" dirty="0">
                <a:solidFill>
                  <a:srgbClr val="ECA929"/>
                </a:solidFill>
                <a:latin typeface="Calibri" pitchFamily="34" charset="0"/>
                <a:ea typeface="Calibri" pitchFamily="34" charset="-122"/>
                <a:cs typeface="Calibri" pitchFamily="34" charset="-120"/>
              </a:rPr>
              <a:t>The console's fleet pages are seeded, and say so on the page.</a:t>
            </a:r>
            <a:endParaRPr lang="en-US" sz="1500" dirty="0"/>
          </a:p>
        </p:txBody>
      </p:sp>
      <p:sp>
        <p:nvSpPr>
          <p:cNvPr id="12" name="Text 10"/>
          <p:cNvSpPr txBox="1"/>
          <p:nvPr/>
        </p:nvSpPr>
        <p:spPr>
          <a:xfrm>
            <a:off x="960120" y="5010912"/>
            <a:ext cx="10241280" cy="640080"/>
          </a:xfrm>
          <a:prstGeom prst="rect">
            <a:avLst/>
          </a:prstGeom>
          <a:noFill/>
          <a:ln/>
        </p:spPr>
        <p:txBody>
          <a:bodyPr wrap="square" lIns="0" tIns="0" rIns="0" bIns="0" rtlCol="0" anchor="t"/>
          <a:lstStyle/>
          <a:p>
            <a:pPr indent="0" marL="0">
              <a:lnSpc>
                <a:spcPct val="115000"/>
              </a:lnSpc>
              <a:buNone/>
            </a:pPr>
            <a:r>
              <a:rPr lang="en-US" sz="1300" dirty="0">
                <a:solidFill>
                  <a:srgbClr val="8F949D"/>
                </a:solidFill>
                <a:latin typeface="Calibri" pitchFamily="34" charset="0"/>
                <a:ea typeface="Calibri" pitchFamily="34" charset="-122"/>
                <a:cs typeface="Calibri" pitchFamily="34" charset="-120"/>
              </a:rPr>
              <a:t>Overview, Coverage, Defects, Schedule and Targets describe the product around a single run. Every number inside a run is measured by that run.</a:t>
            </a:r>
            <a:endParaRPr lang="en-US" sz="1300" dirty="0"/>
          </a:p>
        </p:txBody>
      </p:sp>
      <p:sp>
        <p:nvSpPr>
          <p:cNvPr id="13" name="Text 11"/>
          <p:cNvSpPr txBox="1"/>
          <p:nvPr/>
        </p:nvSpPr>
        <p:spPr>
          <a:xfrm>
            <a:off x="640080" y="6080760"/>
            <a:ext cx="10881360" cy="365760"/>
          </a:xfrm>
          <a:prstGeom prst="rect">
            <a:avLst/>
          </a:prstGeom>
          <a:noFill/>
          <a:ln/>
        </p:spPr>
        <p:txBody>
          <a:bodyPr wrap="square" lIns="0" tIns="0" rIns="0" bIns="0" rtlCol="0" anchor="t"/>
          <a:lstStyle/>
          <a:p>
            <a:pPr indent="0" marL="0">
              <a:lnSpc>
                <a:spcPct val="115000"/>
              </a:lnSpc>
              <a:buNone/>
            </a:pPr>
            <a:r>
              <a:rPr lang="en-US" sz="1400" i="1" dirty="0">
                <a:solidFill>
                  <a:srgbClr val="FD8F37"/>
                </a:solidFill>
                <a:latin typeface="Calibri" pitchFamily="34" charset="0"/>
                <a:ea typeface="Calibri" pitchFamily="34" charset="-122"/>
                <a:cs typeface="Calibri" pitchFamily="34" charset="-120"/>
              </a:rPr>
              <a:t>This repo distinguishes “the code exists” from “a real run produced it”, and the README says which is which, stage by stage.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90A0E"/>
        </a:solidFill>
      </p:bgPr>
    </p:bg>
    <p:spTree>
      <p:nvGrpSpPr>
        <p:cNvPr id="1" name=""/>
        <p:cNvGrpSpPr/>
        <p:nvPr/>
      </p:nvGrpSpPr>
      <p:grpSpPr>
        <a:xfrm>
          <a:off x="0" y="0"/>
          <a:ext cx="0" cy="0"/>
          <a:chOff x="0" y="0"/>
          <a:chExt cx="0" cy="0"/>
        </a:xfrm>
      </p:grpSpPr>
      <p:sp>
        <p:nvSpPr>
          <p:cNvPr id="2" name="Shape 0"/>
          <p:cNvSpPr/>
          <p:nvPr/>
        </p:nvSpPr>
        <p:spPr>
          <a:xfrm>
            <a:off x="-2926080" y="3291840"/>
            <a:ext cx="7680960" cy="7680960"/>
          </a:xfrm>
          <a:prstGeom prst="ellipse">
            <a:avLst/>
          </a:prstGeom>
          <a:solidFill>
            <a:srgbClr val="F06504">
              <a:alpha val="10000"/>
            </a:srgbClr>
          </a:solidFill>
          <a:ln w="12700">
            <a:solidFill>
              <a:srgbClr val="F06504">
                <a:alpha val="6000"/>
              </a:srgbClr>
            </a:solidFill>
            <a:prstDash val="solid"/>
          </a:ln>
        </p:spPr>
      </p:sp>
      <p:sp>
        <p:nvSpPr>
          <p:cNvPr id="3" name="Text 1"/>
          <p:cNvSpPr txBox="1"/>
          <p:nvPr/>
        </p:nvSpPr>
        <p:spPr>
          <a:xfrm>
            <a:off x="640080" y="1371600"/>
            <a:ext cx="10881360" cy="228600"/>
          </a:xfrm>
          <a:prstGeom prst="rect">
            <a:avLst/>
          </a:prstGeom>
          <a:noFill/>
          <a:ln/>
        </p:spPr>
        <p:txBody>
          <a:bodyPr wrap="square" lIns="0" tIns="0" rIns="0" bIns="0" rtlCol="0" anchor="ctr"/>
          <a:lstStyle/>
          <a:p>
            <a:pPr indent="0" marL="0">
              <a:buNone/>
            </a:pPr>
            <a:r>
              <a:rPr lang="en-US" sz="1100" b="1" spc="200" kern="0" dirty="0">
                <a:solidFill>
                  <a:srgbClr val="F06504"/>
                </a:solidFill>
                <a:latin typeface="Calibri" pitchFamily="34" charset="0"/>
                <a:ea typeface="Calibri" pitchFamily="34" charset="-122"/>
                <a:cs typeface="Calibri" pitchFamily="34" charset="-120"/>
              </a:rPr>
              <a:t>IN ONE SENTENCE</a:t>
            </a:r>
            <a:endParaRPr lang="en-US" sz="1100" dirty="0"/>
          </a:p>
        </p:txBody>
      </p:sp>
      <p:sp>
        <p:nvSpPr>
          <p:cNvPr id="4" name="Text 2"/>
          <p:cNvSpPr txBox="1"/>
          <p:nvPr/>
        </p:nvSpPr>
        <p:spPr>
          <a:xfrm>
            <a:off x="640080" y="1828800"/>
            <a:ext cx="10881360" cy="2011680"/>
          </a:xfrm>
          <a:prstGeom prst="rect">
            <a:avLst/>
          </a:prstGeom>
          <a:noFill/>
          <a:ln/>
        </p:spPr>
        <p:txBody>
          <a:bodyPr wrap="square" lIns="0" tIns="0" rIns="0" bIns="0" rtlCol="0" anchor="ctr"/>
          <a:lstStyle/>
          <a:p>
            <a:pPr indent="0" marL="0">
              <a:lnSpc>
                <a:spcPct val="115000"/>
              </a:lnSpc>
              <a:buNone/>
            </a:pPr>
            <a:r>
              <a:rPr lang="en-US" sz="3000" b="1" dirty="0">
                <a:solidFill>
                  <a:srgbClr val="EBEDF0"/>
                </a:solidFill>
                <a:latin typeface="Cambria" pitchFamily="34" charset="0"/>
                <a:ea typeface="Cambria" pitchFamily="34" charset="-122"/>
                <a:cs typeface="Cambria" pitchFamily="34" charset="-120"/>
              </a:rPr>
              <a:t>One URL in. A suite whose every selector was proven, a bug we refused to heal, a patch we rejected for weakening an assertion, and an honest account of what we did not test.</a:t>
            </a:r>
            <a:endParaRPr lang="en-US" sz="3000" dirty="0"/>
          </a:p>
        </p:txBody>
      </p:sp>
      <p:sp>
        <p:nvSpPr>
          <p:cNvPr id="5" name="Text 3"/>
          <p:cNvSpPr txBox="1"/>
          <p:nvPr/>
        </p:nvSpPr>
        <p:spPr>
          <a:xfrm>
            <a:off x="640080" y="3931920"/>
            <a:ext cx="10881360" cy="365760"/>
          </a:xfrm>
          <a:prstGeom prst="rect">
            <a:avLst/>
          </a:prstGeom>
          <a:noFill/>
          <a:ln/>
        </p:spPr>
        <p:txBody>
          <a:bodyPr wrap="square" lIns="0" tIns="0" rIns="0" bIns="0" rtlCol="0" anchor="t"/>
          <a:lstStyle/>
          <a:p>
            <a:pPr indent="0" marL="0">
              <a:lnSpc>
                <a:spcPct val="115000"/>
              </a:lnSpc>
              <a:buNone/>
            </a:pPr>
            <a:r>
              <a:rPr lang="en-US" sz="1800" dirty="0">
                <a:solidFill>
                  <a:srgbClr val="FD8F37"/>
                </a:solidFill>
                <a:latin typeface="Calibri" pitchFamily="34" charset="0"/>
                <a:ea typeface="Calibri" pitchFamily="34" charset="-122"/>
                <a:cs typeface="Calibri" pitchFamily="34" charset="-120"/>
              </a:rPr>
              <a:t>No human between any two of those stages.</a:t>
            </a:r>
            <a:endParaRPr lang="en-US" sz="1800" dirty="0"/>
          </a:p>
        </p:txBody>
      </p:sp>
      <p:sp>
        <p:nvSpPr>
          <p:cNvPr id="6" name="Shape 4"/>
          <p:cNvSpPr/>
          <p:nvPr/>
        </p:nvSpPr>
        <p:spPr>
          <a:xfrm>
            <a:off x="640080" y="4754880"/>
            <a:ext cx="3429000" cy="1143000"/>
          </a:xfrm>
          <a:prstGeom prst="roundRect">
            <a:avLst>
              <a:gd name="adj" fmla="val 6400"/>
            </a:avLst>
          </a:prstGeom>
          <a:solidFill>
            <a:srgbClr val="16181D"/>
          </a:solidFill>
          <a:ln w="12700">
            <a:solidFill>
              <a:srgbClr val="2F3239"/>
            </a:solidFill>
            <a:prstDash val="solid"/>
          </a:ln>
        </p:spPr>
      </p:sp>
      <p:sp>
        <p:nvSpPr>
          <p:cNvPr id="7" name="Text 5"/>
          <p:cNvSpPr txBox="1"/>
          <p:nvPr/>
        </p:nvSpPr>
        <p:spPr>
          <a:xfrm>
            <a:off x="868680" y="4956048"/>
            <a:ext cx="3017520" cy="274320"/>
          </a:xfrm>
          <a:prstGeom prst="rect">
            <a:avLst/>
          </a:prstGeom>
          <a:noFill/>
          <a:ln/>
        </p:spPr>
        <p:txBody>
          <a:bodyPr wrap="square" lIns="0" tIns="0" rIns="0" bIns="0" rtlCol="0" anchor="ctr"/>
          <a:lstStyle/>
          <a:p>
            <a:pPr indent="0" marL="0">
              <a:buNone/>
            </a:pPr>
            <a:r>
              <a:rPr lang="en-US" sz="1300" b="1" dirty="0">
                <a:solidFill>
                  <a:srgbClr val="FD8F37"/>
                </a:solidFill>
                <a:latin typeface="Courier New" pitchFamily="34" charset="0"/>
                <a:ea typeface="Courier New" pitchFamily="34" charset="-122"/>
                <a:cs typeface="Courier New" pitchFamily="34" charset="-120"/>
              </a:rPr>
              <a:t>SUBMISSION.md</a:t>
            </a:r>
            <a:endParaRPr lang="en-US" sz="1300" dirty="0"/>
          </a:p>
        </p:txBody>
      </p:sp>
      <p:sp>
        <p:nvSpPr>
          <p:cNvPr id="8" name="Text 6"/>
          <p:cNvSpPr txBox="1"/>
          <p:nvPr/>
        </p:nvSpPr>
        <p:spPr>
          <a:xfrm>
            <a:off x="868680" y="5285232"/>
            <a:ext cx="3017520" cy="502920"/>
          </a:xfrm>
          <a:prstGeom prst="rect">
            <a:avLst/>
          </a:prstGeom>
          <a:noFill/>
          <a:ln/>
        </p:spPr>
        <p:txBody>
          <a:bodyPr wrap="square" lIns="0" tIns="0" rIns="0" bIns="0" rtlCol="0" anchor="t"/>
          <a:lstStyle/>
          <a:p>
            <a:pPr indent="0" marL="0">
              <a:lnSpc>
                <a:spcPct val="115000"/>
              </a:lnSpc>
              <a:buNone/>
            </a:pPr>
            <a:r>
              <a:rPr lang="en-US" sz="1150" dirty="0">
                <a:solidFill>
                  <a:srgbClr val="8F949D"/>
                </a:solidFill>
                <a:latin typeface="Calibri" pitchFamily="34" charset="0"/>
                <a:ea typeface="Calibri" pitchFamily="34" charset="-122"/>
                <a:cs typeface="Calibri" pitchFamily="34" charset="-120"/>
              </a:rPr>
              <a:t>every requirement → the file that implements it</a:t>
            </a:r>
            <a:endParaRPr lang="en-US" sz="1150" dirty="0"/>
          </a:p>
        </p:txBody>
      </p:sp>
      <p:sp>
        <p:nvSpPr>
          <p:cNvPr id="9" name="Shape 7"/>
          <p:cNvSpPr/>
          <p:nvPr/>
        </p:nvSpPr>
        <p:spPr>
          <a:xfrm>
            <a:off x="4325112" y="4754880"/>
            <a:ext cx="3429000" cy="1143000"/>
          </a:xfrm>
          <a:prstGeom prst="roundRect">
            <a:avLst>
              <a:gd name="adj" fmla="val 6400"/>
            </a:avLst>
          </a:prstGeom>
          <a:solidFill>
            <a:srgbClr val="16181D"/>
          </a:solidFill>
          <a:ln w="12700">
            <a:solidFill>
              <a:srgbClr val="2F3239"/>
            </a:solidFill>
            <a:prstDash val="solid"/>
          </a:ln>
        </p:spPr>
      </p:sp>
      <p:sp>
        <p:nvSpPr>
          <p:cNvPr id="10" name="Text 8"/>
          <p:cNvSpPr txBox="1"/>
          <p:nvPr/>
        </p:nvSpPr>
        <p:spPr>
          <a:xfrm>
            <a:off x="4553712" y="4956048"/>
            <a:ext cx="3017520" cy="274320"/>
          </a:xfrm>
          <a:prstGeom prst="rect">
            <a:avLst/>
          </a:prstGeom>
          <a:noFill/>
          <a:ln/>
        </p:spPr>
        <p:txBody>
          <a:bodyPr wrap="square" lIns="0" tIns="0" rIns="0" bIns="0" rtlCol="0" anchor="ctr"/>
          <a:lstStyle/>
          <a:p>
            <a:pPr indent="0" marL="0">
              <a:buNone/>
            </a:pPr>
            <a:r>
              <a:rPr lang="en-US" sz="1300" b="1" dirty="0">
                <a:solidFill>
                  <a:srgbClr val="FD8F37"/>
                </a:solidFill>
                <a:latin typeface="Courier New" pitchFamily="34" charset="0"/>
                <a:ea typeface="Courier New" pitchFamily="34" charset="-122"/>
                <a:cs typeface="Courier New" pitchFamily="34" charset="-120"/>
              </a:rPr>
              <a:t>docs/DEMO.md</a:t>
            </a:r>
            <a:endParaRPr lang="en-US" sz="1300" dirty="0"/>
          </a:p>
        </p:txBody>
      </p:sp>
      <p:sp>
        <p:nvSpPr>
          <p:cNvPr id="11" name="Text 9"/>
          <p:cNvSpPr txBox="1"/>
          <p:nvPr/>
        </p:nvSpPr>
        <p:spPr>
          <a:xfrm>
            <a:off x="4553712" y="5285232"/>
            <a:ext cx="3017520" cy="502920"/>
          </a:xfrm>
          <a:prstGeom prst="rect">
            <a:avLst/>
          </a:prstGeom>
          <a:noFill/>
          <a:ln/>
        </p:spPr>
        <p:txBody>
          <a:bodyPr wrap="square" lIns="0" tIns="0" rIns="0" bIns="0" rtlCol="0" anchor="t"/>
          <a:lstStyle/>
          <a:p>
            <a:pPr indent="0" marL="0">
              <a:lnSpc>
                <a:spcPct val="115000"/>
              </a:lnSpc>
              <a:buNone/>
            </a:pPr>
            <a:r>
              <a:rPr lang="en-US" sz="1150" dirty="0">
                <a:solidFill>
                  <a:srgbClr val="8F949D"/>
                </a:solidFill>
                <a:latin typeface="Calibri" pitchFamily="34" charset="0"/>
                <a:ea typeface="Calibri" pitchFamily="34" charset="-122"/>
                <a:cs typeface="Calibri" pitchFamily="34" charset="-120"/>
              </a:rPr>
              <a:t>the run of show, and what to say when it breaks</a:t>
            </a:r>
            <a:endParaRPr lang="en-US" sz="1150" dirty="0"/>
          </a:p>
        </p:txBody>
      </p:sp>
      <p:sp>
        <p:nvSpPr>
          <p:cNvPr id="12" name="Shape 10"/>
          <p:cNvSpPr/>
          <p:nvPr/>
        </p:nvSpPr>
        <p:spPr>
          <a:xfrm>
            <a:off x="8010144" y="4754880"/>
            <a:ext cx="3429000" cy="1143000"/>
          </a:xfrm>
          <a:prstGeom prst="roundRect">
            <a:avLst>
              <a:gd name="adj" fmla="val 6400"/>
            </a:avLst>
          </a:prstGeom>
          <a:solidFill>
            <a:srgbClr val="16181D"/>
          </a:solidFill>
          <a:ln w="12700">
            <a:solidFill>
              <a:srgbClr val="2F3239"/>
            </a:solidFill>
            <a:prstDash val="solid"/>
          </a:ln>
        </p:spPr>
      </p:sp>
      <p:sp>
        <p:nvSpPr>
          <p:cNvPr id="13" name="Text 11"/>
          <p:cNvSpPr txBox="1"/>
          <p:nvPr/>
        </p:nvSpPr>
        <p:spPr>
          <a:xfrm>
            <a:off x="8238744" y="4956048"/>
            <a:ext cx="3017520" cy="274320"/>
          </a:xfrm>
          <a:prstGeom prst="rect">
            <a:avLst/>
          </a:prstGeom>
          <a:noFill/>
          <a:ln/>
        </p:spPr>
        <p:txBody>
          <a:bodyPr wrap="square" lIns="0" tIns="0" rIns="0" bIns="0" rtlCol="0" anchor="ctr"/>
          <a:lstStyle/>
          <a:p>
            <a:pPr indent="0" marL="0">
              <a:buNone/>
            </a:pPr>
            <a:r>
              <a:rPr lang="en-US" sz="1300" b="1" dirty="0">
                <a:solidFill>
                  <a:srgbClr val="FD8F37"/>
                </a:solidFill>
                <a:latin typeface="Courier New" pitchFamily="34" charset="0"/>
                <a:ea typeface="Courier New" pitchFamily="34" charset="-122"/>
                <a:cs typeface="Courier New" pitchFamily="34" charset="-120"/>
              </a:rPr>
              <a:t>pnpm verify</a:t>
            </a:r>
            <a:endParaRPr lang="en-US" sz="1300" dirty="0"/>
          </a:p>
        </p:txBody>
      </p:sp>
      <p:sp>
        <p:nvSpPr>
          <p:cNvPr id="14" name="Text 12"/>
          <p:cNvSpPr txBox="1"/>
          <p:nvPr/>
        </p:nvSpPr>
        <p:spPr>
          <a:xfrm>
            <a:off x="8238744" y="5285232"/>
            <a:ext cx="3017520" cy="502920"/>
          </a:xfrm>
          <a:prstGeom prst="rect">
            <a:avLst/>
          </a:prstGeom>
          <a:noFill/>
          <a:ln/>
        </p:spPr>
        <p:txBody>
          <a:bodyPr wrap="square" lIns="0" tIns="0" rIns="0" bIns="0" rtlCol="0" anchor="t"/>
          <a:lstStyle/>
          <a:p>
            <a:pPr indent="0" marL="0">
              <a:lnSpc>
                <a:spcPct val="115000"/>
              </a:lnSpc>
              <a:buNone/>
            </a:pPr>
            <a:r>
              <a:rPr lang="en-US" sz="1150" dirty="0">
                <a:solidFill>
                  <a:srgbClr val="8F949D"/>
                </a:solidFill>
                <a:latin typeface="Calibri" pitchFamily="34" charset="0"/>
                <a:ea typeface="Calibri" pitchFamily="34" charset="-122"/>
                <a:cs typeface="Calibri" pitchFamily="34" charset="-120"/>
              </a:rPr>
              <a:t>typecheck, lint, 117 assertions, ~2 seconds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Odyssey — autonomous test orchestration</dc:title>
  <dc:subject>PptxGenJS Presentation</dc:subject>
  <dc:creator>The Odyssey</dc:creator>
  <cp:lastModifiedBy>The Odyssey</cp:lastModifiedBy>
  <cp:revision>1</cp:revision>
  <dcterms:created xsi:type="dcterms:W3CDTF">2026-09-05T03:21:45Z</dcterms:created>
  <dcterms:modified xsi:type="dcterms:W3CDTF">2026-09-05T03:21:45Z</dcterms:modified>
</cp:coreProperties>
</file>